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942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4850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95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653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99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47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777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103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3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04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644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928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458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7804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915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565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175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80F412B-0803-4DF1-9F07-CE30265F7306}" type="datetimeFigureOut">
              <a:rPr lang="en-IN" smtClean="0"/>
              <a:t>06-10-2023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B114C7E-F7FE-48CC-8B40-4A7822D2A9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4009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615" y="1081455"/>
            <a:ext cx="9082454" cy="1195754"/>
          </a:xfrm>
        </p:spPr>
        <p:txBody>
          <a:bodyPr>
            <a:normAutofit/>
          </a:bodyPr>
          <a:lstStyle/>
          <a:p>
            <a:pPr algn="l"/>
            <a:r>
              <a:rPr lang="en-GB" sz="3600" b="1" dirty="0">
                <a:latin typeface="Copperplate Gothic Light" panose="020E0507020206020404" pitchFamily="34" charset="0"/>
              </a:rPr>
              <a:t>Predicting House Prices Using Machine Learning</a:t>
            </a:r>
            <a:endParaRPr lang="en-IN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9615" y="2486594"/>
            <a:ext cx="8915400" cy="687429"/>
          </a:xfrm>
        </p:spPr>
        <p:txBody>
          <a:bodyPr>
            <a:normAutofit/>
          </a:bodyPr>
          <a:lstStyle/>
          <a:p>
            <a:pPr algn="l"/>
            <a:r>
              <a:rPr lang="en-GB" u="sng" dirty="0"/>
              <a:t>ensemble methods and deep learning </a:t>
            </a:r>
            <a:r>
              <a:rPr lang="en-GB" u="sng" dirty="0" smtClean="0"/>
              <a:t>architectures to </a:t>
            </a:r>
            <a:r>
              <a:rPr lang="en-GB" u="sng" dirty="0"/>
              <a:t>improve the prediction system's accuracy and robustness.</a:t>
            </a:r>
            <a:endParaRPr lang="en-IN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6893170" y="3868615"/>
            <a:ext cx="381586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                     </a:t>
            </a:r>
            <a:r>
              <a:rPr lang="en-IN" dirty="0">
                <a:solidFill>
                  <a:schemeClr val="accent1"/>
                </a:solidFill>
                <a:latin typeface="Bernard MT Condensed" panose="02050806060905020404" pitchFamily="18" charset="0"/>
              </a:rPr>
              <a:t>TEAM </a:t>
            </a:r>
            <a:r>
              <a:rPr lang="en-IN" dirty="0" smtClean="0">
                <a:solidFill>
                  <a:schemeClr val="accent1"/>
                </a:solidFill>
                <a:latin typeface="Bernard MT Condensed" panose="02050806060905020404" pitchFamily="18" charset="0"/>
              </a:rPr>
              <a:t>MEMBERS</a:t>
            </a:r>
            <a:endParaRPr lang="en-IN" dirty="0">
              <a:solidFill>
                <a:schemeClr val="accent1"/>
              </a:solidFill>
              <a:latin typeface="Bernard MT Condensed" panose="02050806060905020404" pitchFamily="18" charset="0"/>
            </a:endParaRPr>
          </a:p>
          <a:p>
            <a:pPr marL="342900" indent="-342900">
              <a:buFontTx/>
              <a:buChar char="-"/>
            </a:pPr>
            <a:r>
              <a:rPr lang="en-IN" dirty="0" err="1"/>
              <a:t>Karthikeyan</a:t>
            </a:r>
            <a:r>
              <a:rPr lang="en-IN" dirty="0"/>
              <a:t> </a:t>
            </a:r>
            <a:r>
              <a:rPr lang="en-IN" dirty="0" err="1"/>
              <a:t>Arun</a:t>
            </a:r>
            <a:r>
              <a:rPr lang="en-IN" dirty="0"/>
              <a:t> Kumar(TL)</a:t>
            </a:r>
          </a:p>
          <a:p>
            <a:pPr marL="342900" indent="-342900">
              <a:buFontTx/>
              <a:buChar char="-"/>
            </a:pPr>
            <a:r>
              <a:rPr lang="en-IN" dirty="0" err="1"/>
              <a:t>Ajay.P</a:t>
            </a:r>
            <a:endParaRPr lang="en-IN" dirty="0"/>
          </a:p>
          <a:p>
            <a:pPr marL="342900" indent="-342900">
              <a:buFontTx/>
              <a:buChar char="-"/>
            </a:pPr>
            <a:r>
              <a:rPr lang="en-IN" dirty="0" err="1"/>
              <a:t>Elakiyan.S</a:t>
            </a:r>
            <a:endParaRPr lang="en-IN" dirty="0"/>
          </a:p>
          <a:p>
            <a:pPr marL="342900" indent="-342900">
              <a:buFontTx/>
              <a:buChar char="-"/>
            </a:pPr>
            <a:r>
              <a:rPr lang="en-IN" dirty="0"/>
              <a:t>Gladwin Prince</a:t>
            </a:r>
          </a:p>
          <a:p>
            <a:pPr marL="342900" indent="-342900">
              <a:buFontTx/>
              <a:buChar char="-"/>
            </a:pPr>
            <a:r>
              <a:rPr lang="en-IN" dirty="0" err="1"/>
              <a:t>Ajith.P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452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8" y="2077915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GB" b="1" dirty="0"/>
              <a:t>From Design to Reality: Implementing a House Price Prediction System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798" y="3226777"/>
            <a:ext cx="10131425" cy="14565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u="sng" dirty="0"/>
              <a:t>A Journey Through Data and Algorithms</a:t>
            </a:r>
            <a:endParaRPr lang="en-IN" sz="2800" u="sng" dirty="0"/>
          </a:p>
        </p:txBody>
      </p:sp>
    </p:spTree>
    <p:extLst>
      <p:ext uri="{BB962C8B-B14F-4D97-AF65-F5344CB8AC3E}">
        <p14:creationId xmlns:p14="http://schemas.microsoft.com/office/powerpoint/2010/main" val="114573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116" y="2702169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6000" dirty="0" smtClean="0">
                <a:latin typeface="Arial Rounded MT Bold" panose="020F0704030504030204" pitchFamily="34" charset="0"/>
              </a:rPr>
              <a:t>INTRODUCTION</a:t>
            </a:r>
            <a:endParaRPr lang="en-IN" sz="6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525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87671"/>
            <a:ext cx="10131425" cy="753208"/>
          </a:xfrm>
        </p:spPr>
        <p:txBody>
          <a:bodyPr/>
          <a:lstStyle/>
          <a:p>
            <a:r>
              <a:rPr lang="en-IN" b="1" dirty="0"/>
              <a:t>Presentation Goals: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8102" y="2057399"/>
            <a:ext cx="9689123" cy="3223847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>
                <a:latin typeface="Bahnschrift SemiBold Condensed" panose="020B0502040204020203" pitchFamily="34" charset="0"/>
              </a:rPr>
              <a:t>Before we dive in, let's set clear objectives for our presentation:</a:t>
            </a:r>
          </a:p>
          <a:p>
            <a:r>
              <a:rPr lang="en-GB" dirty="0"/>
              <a:t>Explore the steps involved in transitioning from the design phase to implementation.</a:t>
            </a:r>
          </a:p>
          <a:p>
            <a:r>
              <a:rPr lang="en-GB" dirty="0"/>
              <a:t>Understand the crucial aspects of model selection, data pipelines, and real-time monitoring.</a:t>
            </a:r>
          </a:p>
          <a:p>
            <a:r>
              <a:rPr lang="en-GB" dirty="0"/>
              <a:t>Examine how we ensure security, user engagement, and post-deployment maintenance.</a:t>
            </a:r>
          </a:p>
          <a:p>
            <a:r>
              <a:rPr lang="en-GB" dirty="0"/>
              <a:t>Share success stories that highlight the impact of our house price prediction system.</a:t>
            </a:r>
          </a:p>
          <a:p>
            <a:r>
              <a:rPr lang="en-GB" dirty="0"/>
              <a:t>Engage in a discussion and address any questions you may have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r>
              <a:rPr lang="en-GB" dirty="0"/>
              <a:t>By the end of this presentation, you'll have a comprehensive understanding of how we've transformed a design concept into a real-world solution that benefits users across the real estate spectrum.</a:t>
            </a:r>
          </a:p>
        </p:txBody>
      </p:sp>
    </p:spTree>
    <p:extLst>
      <p:ext uri="{BB962C8B-B14F-4D97-AF65-F5344CB8AC3E}">
        <p14:creationId xmlns:p14="http://schemas.microsoft.com/office/powerpoint/2010/main" val="192028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952825"/>
            <a:ext cx="10131425" cy="1456267"/>
          </a:xfrm>
        </p:spPr>
        <p:txBody>
          <a:bodyPr>
            <a:noAutofit/>
          </a:bodyPr>
          <a:lstStyle/>
          <a:p>
            <a:r>
              <a:rPr lang="en-IN" sz="4400" dirty="0">
                <a:latin typeface="Arial Rounded MT Bold" panose="020F0704030504030204" pitchFamily="34" charset="0"/>
              </a:rPr>
              <a:t>The Implementation Phase</a:t>
            </a:r>
            <a:endParaRPr lang="en-IN" sz="4400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409092"/>
            <a:ext cx="10131425" cy="2274277"/>
          </a:xfrm>
        </p:spPr>
        <p:txBody>
          <a:bodyPr/>
          <a:lstStyle/>
          <a:p>
            <a:r>
              <a:rPr lang="en-GB" dirty="0"/>
              <a:t>With a solid foundation laid during the design phase, we now transition into the exciting and pivotal "Implementation Phase."</a:t>
            </a:r>
          </a:p>
          <a:p>
            <a:r>
              <a:rPr lang="en-GB" dirty="0"/>
              <a:t>This phase represents the realization of our design concepts and the transformation of ideas into practical solutions.</a:t>
            </a:r>
          </a:p>
        </p:txBody>
      </p:sp>
    </p:spTree>
    <p:extLst>
      <p:ext uri="{BB962C8B-B14F-4D97-AF65-F5344CB8AC3E}">
        <p14:creationId xmlns:p14="http://schemas.microsoft.com/office/powerpoint/2010/main" val="3414898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Objectives: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Bahnschrift SemiBold Condensed" panose="020B0502040204020203" pitchFamily="34" charset="0"/>
              </a:rPr>
              <a:t>As we embark on this phase, our key objectives are</a:t>
            </a:r>
            <a:r>
              <a:rPr lang="en-GB" sz="2800" dirty="0" smtClean="0">
                <a:latin typeface="Bahnschrift SemiBold Condensed" panose="020B0502040204020203" pitchFamily="34" charset="0"/>
              </a:rPr>
              <a:t>:</a:t>
            </a:r>
            <a:endParaRPr lang="en-IN" sz="2800" dirty="0">
              <a:latin typeface="Bahnschrift SemiBold Condensed" panose="020B0502040204020203" pitchFamily="34" charset="0"/>
            </a:endParaRPr>
          </a:p>
          <a:p>
            <a:r>
              <a:rPr lang="en-GB" dirty="0"/>
              <a:t>Turn machine learning models into functional tools.</a:t>
            </a:r>
          </a:p>
          <a:p>
            <a:r>
              <a:rPr lang="en-GB" dirty="0"/>
              <a:t>Develop data pipelines for seamless data processing.</a:t>
            </a:r>
          </a:p>
          <a:p>
            <a:r>
              <a:rPr lang="en-GB" dirty="0"/>
              <a:t>Ensure real-time monitoring and system stability.</a:t>
            </a:r>
          </a:p>
          <a:p>
            <a:r>
              <a:rPr lang="en-GB" dirty="0"/>
              <a:t>Uphold data security and privacy.</a:t>
            </a:r>
          </a:p>
          <a:p>
            <a:r>
              <a:rPr lang="en-GB" dirty="0"/>
              <a:t>Engage users effectively.</a:t>
            </a:r>
          </a:p>
          <a:p>
            <a:r>
              <a:rPr lang="en-GB" dirty="0"/>
              <a:t>Continuously monitor and improve our solution.</a:t>
            </a:r>
          </a:p>
          <a:p>
            <a:pPr marL="0" indent="0">
              <a:buNone/>
            </a:pPr>
            <a:endParaRPr lang="en-IN" sz="28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83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Building Blocks: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Bahnschrift SemiBold Condensed" panose="020B0502040204020203" pitchFamily="34" charset="0"/>
              </a:rPr>
              <a:t>The implementation phase is composed of several essential building blocks, each contributing to the overall success of our project</a:t>
            </a:r>
            <a:r>
              <a:rPr lang="en-GB" sz="2400" dirty="0" smtClean="0">
                <a:latin typeface="Bahnschrift SemiBold Condensed" panose="020B0502040204020203" pitchFamily="34" charset="0"/>
              </a:rPr>
              <a:t>:</a:t>
            </a:r>
            <a:endParaRPr lang="en-IN" sz="2400" dirty="0">
              <a:latin typeface="Bahnschrift SemiBold Condensed" panose="020B0502040204020203" pitchFamily="34" charset="0"/>
            </a:endParaRPr>
          </a:p>
          <a:p>
            <a:r>
              <a:rPr lang="en-GB" dirty="0"/>
              <a:t>Model Deployment</a:t>
            </a:r>
          </a:p>
          <a:p>
            <a:r>
              <a:rPr lang="en-GB" dirty="0"/>
              <a:t>Data Pipeline Development</a:t>
            </a:r>
          </a:p>
          <a:p>
            <a:r>
              <a:rPr lang="en-GB" dirty="0"/>
              <a:t>Real-time Monitoring and Logging</a:t>
            </a:r>
          </a:p>
          <a:p>
            <a:r>
              <a:rPr lang="en-GB" dirty="0"/>
              <a:t>Security and Privacy Measures</a:t>
            </a:r>
          </a:p>
          <a:p>
            <a:r>
              <a:rPr lang="en-GB" dirty="0"/>
              <a:t>User Engagement Strategies</a:t>
            </a:r>
          </a:p>
          <a:p>
            <a:r>
              <a:rPr lang="en-GB" dirty="0"/>
              <a:t>Post-Deployment Monitoring and Maintenance</a:t>
            </a:r>
          </a:p>
          <a:p>
            <a:pPr marL="0" indent="0">
              <a:buNone/>
            </a:pPr>
            <a:endParaRPr lang="en-IN" sz="2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829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6478" y="2570285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6000" dirty="0" smtClean="0">
                <a:latin typeface="Arial Rounded MT Bold" panose="020F0704030504030204" pitchFamily="34" charset="0"/>
              </a:rPr>
              <a:t>MODEL SELECTION</a:t>
            </a:r>
            <a:endParaRPr lang="en-IN" sz="6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144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735016"/>
            <a:ext cx="10131425" cy="744415"/>
          </a:xfrm>
        </p:spPr>
        <p:txBody>
          <a:bodyPr/>
          <a:lstStyle/>
          <a:p>
            <a:r>
              <a:rPr lang="en-IN" b="1" dirty="0"/>
              <a:t>Choosing the Right Model: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581682"/>
            <a:ext cx="10032022" cy="2342009"/>
          </a:xfrm>
        </p:spPr>
        <p:txBody>
          <a:bodyPr/>
          <a:lstStyle/>
          <a:p>
            <a:r>
              <a:rPr lang="en-GB" dirty="0"/>
              <a:t>To achieve accurate predictions, we carefully consider various machine learning algorithms, each with its strengths and weaknesses</a:t>
            </a:r>
            <a:r>
              <a:rPr lang="en-GB" dirty="0" smtClean="0"/>
              <a:t>.</a:t>
            </a:r>
          </a:p>
          <a:p>
            <a:r>
              <a:rPr lang="en-GB" dirty="0"/>
              <a:t>Evaluate algorithms based on how well they suit the specific house price prediction task. Different algorithms excel in various scenarios.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6922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75593"/>
            <a:ext cx="10131425" cy="929054"/>
          </a:xfrm>
        </p:spPr>
        <p:txBody>
          <a:bodyPr/>
          <a:lstStyle/>
          <a:p>
            <a:r>
              <a:rPr lang="en-IN" b="1" dirty="0"/>
              <a:t>Model Characteristics: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400300"/>
            <a:ext cx="10131425" cy="252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Bahnschrift SemiBold Condensed" panose="020B0502040204020203" pitchFamily="34" charset="0"/>
              </a:rPr>
              <a:t>The selected model should possess characteristics such </a:t>
            </a:r>
            <a:r>
              <a:rPr lang="en-GB" sz="2400" dirty="0" smtClean="0">
                <a:latin typeface="Bahnschrift SemiBold Condensed" panose="020B0502040204020203" pitchFamily="34" charset="0"/>
              </a:rPr>
              <a:t>as:</a:t>
            </a:r>
          </a:p>
          <a:p>
            <a:r>
              <a:rPr lang="en-GB" dirty="0" smtClean="0"/>
              <a:t>Accuracy</a:t>
            </a:r>
            <a:r>
              <a:rPr lang="en-GB" dirty="0"/>
              <a:t>: The ability to make precise predictions.</a:t>
            </a:r>
          </a:p>
          <a:p>
            <a:r>
              <a:rPr lang="en-GB" dirty="0"/>
              <a:t>Generalization: The capacity to perform well on unseen data.</a:t>
            </a:r>
          </a:p>
          <a:p>
            <a:r>
              <a:rPr lang="en-GB" dirty="0"/>
              <a:t>Scalability: The ability to handle a growing user base and increasing data volume.</a:t>
            </a:r>
          </a:p>
          <a:p>
            <a:r>
              <a:rPr lang="en-GB" dirty="0"/>
              <a:t>Interpretability: The degree to which the model's predictions can be explained.</a:t>
            </a:r>
          </a:p>
          <a:p>
            <a:pPr marL="0" indent="0">
              <a:buNone/>
            </a:pPr>
            <a:endParaRPr lang="en-IN" sz="2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80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251439"/>
            <a:ext cx="10131425" cy="990600"/>
          </a:xfrm>
        </p:spPr>
        <p:txBody>
          <a:bodyPr/>
          <a:lstStyle/>
          <a:p>
            <a:r>
              <a:rPr lang="en-IN" b="1" dirty="0"/>
              <a:t>Model Evaluation: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628899"/>
            <a:ext cx="10131425" cy="1465385"/>
          </a:xfrm>
        </p:spPr>
        <p:txBody>
          <a:bodyPr/>
          <a:lstStyle/>
          <a:p>
            <a:r>
              <a:rPr lang="en-GB" dirty="0"/>
              <a:t>We evaluate candidate models using appropriate metrics, such as Mean Absolute Error (MAE), Root Mean Squared Error (RMSE), and R-squared score.</a:t>
            </a:r>
          </a:p>
          <a:p>
            <a:r>
              <a:rPr lang="en-GB" dirty="0"/>
              <a:t>Cross-validation techniques help ensure that the chosen model generalizes well.</a:t>
            </a:r>
          </a:p>
        </p:txBody>
      </p:sp>
    </p:spTree>
    <p:extLst>
      <p:ext uri="{BB962C8B-B14F-4D97-AF65-F5344CB8AC3E}">
        <p14:creationId xmlns:p14="http://schemas.microsoft.com/office/powerpoint/2010/main" val="207660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type="title"/>
          </p:nvPr>
        </p:nvSpPr>
        <p:spPr>
          <a:xfrm>
            <a:off x="764931" y="2614247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en-IN" sz="6000" b="1" dirty="0">
                <a:latin typeface="Arial Rounded MT Bold" panose="020F0704030504030204" pitchFamily="34" charset="0"/>
              </a:rPr>
              <a:t>Model Export and Deployment</a:t>
            </a:r>
            <a:endParaRPr lang="en-IN" sz="6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234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1189893"/>
            <a:ext cx="10131425" cy="1456267"/>
          </a:xfrm>
        </p:spPr>
        <p:txBody>
          <a:bodyPr/>
          <a:lstStyle/>
          <a:p>
            <a:r>
              <a:rPr lang="en-IN" b="1" dirty="0"/>
              <a:t>Model Export: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819076"/>
            <a:ext cx="10131425" cy="1603456"/>
          </a:xfrm>
        </p:spPr>
        <p:txBody>
          <a:bodyPr/>
          <a:lstStyle/>
          <a:p>
            <a:r>
              <a:rPr lang="en-GB" dirty="0"/>
              <a:t>Once we've selected the most suitable machine learning model for house price prediction, the next step is model export. This process involves preparing the model for deployment.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422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Considerations: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Bahnschrift SemiBold Condensed" panose="020B0502040204020203" pitchFamily="34" charset="0"/>
              </a:rPr>
              <a:t>Before deployment, we need to address several critical considerations</a:t>
            </a:r>
            <a:r>
              <a:rPr lang="en-GB" sz="2400" dirty="0" smtClean="0">
                <a:latin typeface="Bahnschrift SemiBold Condensed" panose="020B0502040204020203" pitchFamily="34" charset="0"/>
              </a:rPr>
              <a:t>:</a:t>
            </a:r>
            <a:endParaRPr lang="en-IN" sz="2400" dirty="0">
              <a:latin typeface="Bahnschrift SemiBold Condensed" panose="020B0502040204020203" pitchFamily="34" charset="0"/>
            </a:endParaRPr>
          </a:p>
          <a:p>
            <a:r>
              <a:rPr lang="en-GB" b="1" dirty="0"/>
              <a:t>Serialization:</a:t>
            </a:r>
            <a:r>
              <a:rPr lang="en-GB" dirty="0"/>
              <a:t> Serialize the trained model into a format that can be easily loaded and utilized by the deployment environment.</a:t>
            </a:r>
          </a:p>
          <a:p>
            <a:r>
              <a:rPr lang="en-GB" b="1" dirty="0"/>
              <a:t>Compatibility:</a:t>
            </a:r>
            <a:r>
              <a:rPr lang="en-GB" dirty="0"/>
              <a:t> Ensure that the serialized model is compatible with the target deployment environment, whether it's a web application, cloud service, or edge device.</a:t>
            </a:r>
          </a:p>
          <a:p>
            <a:r>
              <a:rPr lang="en-GB" b="1" dirty="0"/>
              <a:t>Version Control:</a:t>
            </a:r>
            <a:r>
              <a:rPr lang="en-GB" dirty="0"/>
              <a:t> Implement version control to keep track of different iterations of the model, allowing for easy rollback in case of issues.</a:t>
            </a:r>
          </a:p>
          <a:p>
            <a:r>
              <a:rPr lang="en-GB" b="1" dirty="0"/>
              <a:t>Dependencies:</a:t>
            </a:r>
            <a:r>
              <a:rPr lang="en-GB" dirty="0"/>
              <a:t> Document and manage the dependencies and libraries required to run the model successfully.</a:t>
            </a:r>
          </a:p>
          <a:p>
            <a:pPr marL="0" indent="0">
              <a:buNone/>
            </a:pPr>
            <a:endParaRPr lang="en-IN" sz="2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5593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823546"/>
          </a:xfrm>
        </p:spPr>
        <p:txBody>
          <a:bodyPr/>
          <a:lstStyle/>
          <a:p>
            <a:r>
              <a:rPr lang="en-IN" b="1" dirty="0"/>
              <a:t>Deployment Strategies: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433147"/>
            <a:ext cx="10131425" cy="4950070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>
                <a:latin typeface="Bahnschrift SemiBold Condensed" panose="020B0502040204020203" pitchFamily="34" charset="0"/>
              </a:rPr>
              <a:t>Deploying the model involves making it accessible to users for predictions. We employ various deployment strategies based on project requirements</a:t>
            </a:r>
            <a:r>
              <a:rPr lang="en-GB" sz="2400" dirty="0" smtClean="0">
                <a:latin typeface="Bahnschrift SemiBold Condensed" panose="020B0502040204020203" pitchFamily="34" charset="0"/>
              </a:rPr>
              <a:t>:</a:t>
            </a:r>
          </a:p>
          <a:p>
            <a:r>
              <a:rPr lang="en-GB" b="1" dirty="0"/>
              <a:t>Web Application:</a:t>
            </a:r>
            <a:r>
              <a:rPr lang="en-GB" dirty="0"/>
              <a:t> If a user-friendly interface is needed, we may develop a web application where users can input property details and receive predictions.</a:t>
            </a:r>
          </a:p>
          <a:p>
            <a:r>
              <a:rPr lang="en-GB" b="1" dirty="0"/>
              <a:t>API Service:</a:t>
            </a:r>
            <a:r>
              <a:rPr lang="en-GB" dirty="0"/>
              <a:t> Alternatively, we create an API (Application Programming Interface) to expose the model's functionality for programmatic access by other applications or systems.</a:t>
            </a:r>
          </a:p>
          <a:p>
            <a:r>
              <a:rPr lang="en-GB" b="1" dirty="0"/>
              <a:t>Containerization:</a:t>
            </a:r>
            <a:r>
              <a:rPr lang="en-GB" dirty="0"/>
              <a:t> Containerization using technologies like Docker allows us to package the model and its dependencies into a portable container for easy deployment across different environments.</a:t>
            </a:r>
          </a:p>
          <a:p>
            <a:r>
              <a:rPr lang="en-GB" b="1" dirty="0"/>
              <a:t>Cloud Deployment:</a:t>
            </a:r>
            <a:r>
              <a:rPr lang="en-GB" dirty="0"/>
              <a:t> Cloud platforms like AWS, Azure, or GCP provide scalable and managed infrastructure for deploying machine learning models.</a:t>
            </a:r>
          </a:p>
          <a:p>
            <a:r>
              <a:rPr lang="en-GB" b="1" dirty="0"/>
              <a:t>Edge Deployment:</a:t>
            </a:r>
            <a:r>
              <a:rPr lang="en-GB" dirty="0"/>
              <a:t> In some cases, models are deployed directly on edge devices, ensuring predictions can be made locally without relying on a central server.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01532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761999"/>
          </a:xfrm>
        </p:spPr>
        <p:txBody>
          <a:bodyPr/>
          <a:lstStyle/>
          <a:p>
            <a:r>
              <a:rPr lang="en-IN" b="1" dirty="0"/>
              <a:t>Scaling for User Access: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58491"/>
            <a:ext cx="10131425" cy="1102295"/>
          </a:xfrm>
        </p:spPr>
        <p:txBody>
          <a:bodyPr/>
          <a:lstStyle/>
          <a:p>
            <a:r>
              <a:rPr lang="en-GB" dirty="0"/>
              <a:t>Scalability is a crucial consideration in deployment. We ensure that the deployment architecture can handle a potentially large number of simultaneous prediction requests from users.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85800" y="3047677"/>
            <a:ext cx="10131425" cy="7619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Monitoring Deployment:</a:t>
            </a:r>
            <a:endParaRPr lang="en-IN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4096567"/>
            <a:ext cx="10131425" cy="1102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After deployment, we implement monitoring systems to keep an eye on the model's performance and system health. This helps in identifying and addressing issues promptly.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62025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671" y="2675793"/>
            <a:ext cx="10884876" cy="1456267"/>
          </a:xfrm>
        </p:spPr>
        <p:txBody>
          <a:bodyPr>
            <a:noAutofit/>
          </a:bodyPr>
          <a:lstStyle/>
          <a:p>
            <a:r>
              <a:rPr lang="en-IN" sz="5400" dirty="0">
                <a:latin typeface="Arial Rounded MT Bold" panose="020F0704030504030204" pitchFamily="34" charset="0"/>
              </a:rPr>
              <a:t>Data Pipeline Development</a:t>
            </a:r>
            <a:endParaRPr lang="en-IN" sz="54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824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63516"/>
            <a:ext cx="10131425" cy="1456267"/>
          </a:xfrm>
        </p:spPr>
        <p:txBody>
          <a:bodyPr/>
          <a:lstStyle/>
          <a:p>
            <a:r>
              <a:rPr lang="en-IN" b="1" dirty="0"/>
              <a:t>Data Processing Backbone: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353084"/>
            <a:ext cx="10131425" cy="2060656"/>
          </a:xfrm>
        </p:spPr>
        <p:txBody>
          <a:bodyPr/>
          <a:lstStyle/>
          <a:p>
            <a:r>
              <a:rPr lang="en-GB" dirty="0"/>
              <a:t>A robust data processing pipeline is the backbone of our house price prediction system. It ensures that data flows seamlessly from various sources to our machine learning model.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378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Components: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32085"/>
            <a:ext cx="10131425" cy="44928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Bahnschrift SemiBold Condensed" panose="020B0502040204020203" pitchFamily="34" charset="0"/>
              </a:rPr>
              <a:t>Our data pipeline development comprises several key components</a:t>
            </a:r>
            <a:r>
              <a:rPr lang="en-GB" sz="2400" dirty="0" smtClean="0">
                <a:latin typeface="Bahnschrift SemiBold Condensed" panose="020B0502040204020203" pitchFamily="34" charset="0"/>
              </a:rPr>
              <a:t>:</a:t>
            </a:r>
            <a:endParaRPr lang="en-IN" sz="2400" dirty="0">
              <a:latin typeface="Bahnschrift SemiBold Condensed" panose="020B0502040204020203" pitchFamily="34" charset="0"/>
            </a:endParaRPr>
          </a:p>
          <a:p>
            <a:r>
              <a:rPr lang="en-GB" b="1" dirty="0"/>
              <a:t>Data Ingestion:</a:t>
            </a:r>
            <a:r>
              <a:rPr lang="en-GB" dirty="0"/>
              <a:t> We collect data from various sources, including real estate databases, government records, and external APIs.</a:t>
            </a:r>
          </a:p>
          <a:p>
            <a:r>
              <a:rPr lang="en-GB" b="1" dirty="0"/>
              <a:t>Data </a:t>
            </a:r>
            <a:r>
              <a:rPr lang="en-GB" b="1" dirty="0" err="1"/>
              <a:t>Preprocessing</a:t>
            </a:r>
            <a:r>
              <a:rPr lang="en-GB" b="1" dirty="0"/>
              <a:t>:</a:t>
            </a:r>
            <a:r>
              <a:rPr lang="en-GB" dirty="0"/>
              <a:t> Raw data often requires cleaning and transformation. Data </a:t>
            </a:r>
            <a:r>
              <a:rPr lang="en-GB" dirty="0" err="1"/>
              <a:t>preprocessing</a:t>
            </a:r>
            <a:r>
              <a:rPr lang="en-GB" dirty="0"/>
              <a:t> steps include handling missing values, scaling, encoding categorical variables, and feature engineering.</a:t>
            </a:r>
          </a:p>
          <a:p>
            <a:r>
              <a:rPr lang="en-GB" b="1" dirty="0"/>
              <a:t>Feature Extraction:</a:t>
            </a:r>
            <a:r>
              <a:rPr lang="en-GB" dirty="0"/>
              <a:t> We extract relevant features that are essential for house price prediction. These features may include property details, historical sales data, economic indicators, and more.</a:t>
            </a:r>
          </a:p>
          <a:p>
            <a:r>
              <a:rPr lang="en-GB" b="1" dirty="0"/>
              <a:t>Data Integration:</a:t>
            </a:r>
            <a:r>
              <a:rPr lang="en-GB" dirty="0"/>
              <a:t> Diverse data sources are integrated to create a unified dataset that can be fed into the machine learning model.</a:t>
            </a:r>
          </a:p>
          <a:p>
            <a:r>
              <a:rPr lang="en-GB" b="1" dirty="0"/>
              <a:t>Batch and Real-time Processing:</a:t>
            </a:r>
            <a:r>
              <a:rPr lang="en-GB" dirty="0"/>
              <a:t> Depending on project requirements, we support both batch processing for historical data and real-time processing for live predictions.</a:t>
            </a:r>
          </a:p>
          <a:p>
            <a:pPr marL="0" indent="0">
              <a:buNone/>
            </a:pPr>
            <a:endParaRPr lang="en-IN" sz="2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941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917331"/>
            <a:ext cx="10131425" cy="735623"/>
          </a:xfrm>
        </p:spPr>
        <p:txBody>
          <a:bodyPr>
            <a:normAutofit/>
          </a:bodyPr>
          <a:lstStyle/>
          <a:p>
            <a:r>
              <a:rPr lang="en-IN" b="1" dirty="0"/>
              <a:t>Scalability and Performance</a:t>
            </a:r>
            <a:r>
              <a:rPr lang="en-IN" b="1" dirty="0" smtClean="0"/>
              <a:t>: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1763998"/>
            <a:ext cx="10131425" cy="1163841"/>
          </a:xfrm>
        </p:spPr>
        <p:txBody>
          <a:bodyPr/>
          <a:lstStyle/>
          <a:p>
            <a:r>
              <a:rPr lang="en-GB" dirty="0"/>
              <a:t>Our data pipeline is designed for scalability and performance. It can handle large volumes of data efficiently, ensuring quick response times for users.</a:t>
            </a:r>
            <a:endParaRPr lang="en-IN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85799" y="3038883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Quality Assurance:</a:t>
            </a:r>
            <a:endParaRPr lang="en-IN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685799" y="3882295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Data quality is paramount. We implement data quality checks to identify and rectify issues in the incoming data to maintain high prediction accuracy.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8940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439" y="2754923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en-IN" sz="6000" b="1" dirty="0">
                <a:latin typeface="Arial Rounded MT Bold" panose="020F0704030504030204" pitchFamily="34" charset="0"/>
              </a:rPr>
              <a:t>Real-time Monitoring and Logging</a:t>
            </a:r>
            <a:endParaRPr lang="en-IN" sz="6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847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685799" y="917331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Ensuring System Health:</a:t>
            </a:r>
            <a:endParaRPr lang="en-IN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685800" y="1763998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In the implementation phase, it's crucial to monitor the real-time performance of our house price prediction system to ensure its stability and reliability.</a:t>
            </a:r>
            <a:endParaRPr lang="en-IN" dirty="0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85799" y="3038883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Continuous Monitoring:</a:t>
            </a:r>
            <a:endParaRPr lang="en-IN" dirty="0"/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685799" y="3882295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Our system is equipped with continuous monitoring capabilities, which means we are actively watching over its operation around the clock.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618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Aspects of Monitoring: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 smtClean="0">
                <a:latin typeface="Bahnschrift SemiBold Condensed" panose="020B0502040204020203" pitchFamily="34" charset="0"/>
              </a:rPr>
              <a:t>Here </a:t>
            </a:r>
            <a:r>
              <a:rPr lang="en-GB" sz="2400" dirty="0">
                <a:latin typeface="Bahnschrift SemiBold Condensed" panose="020B0502040204020203" pitchFamily="34" charset="0"/>
              </a:rPr>
              <a:t>are some key aspects we focus on</a:t>
            </a:r>
            <a:r>
              <a:rPr lang="en-GB" sz="2400" dirty="0" smtClean="0">
                <a:latin typeface="Bahnschrift SemiBold Condensed" panose="020B0502040204020203" pitchFamily="34" charset="0"/>
              </a:rPr>
              <a:t>:</a:t>
            </a:r>
            <a:endParaRPr lang="en-IN" sz="2400" dirty="0">
              <a:latin typeface="Bahnschrift SemiBold Condensed" panose="020B0502040204020203" pitchFamily="34" charset="0"/>
            </a:endParaRPr>
          </a:p>
          <a:p>
            <a:r>
              <a:rPr lang="en-GB" b="1" dirty="0"/>
              <a:t>Performance Metrics:</a:t>
            </a:r>
            <a:r>
              <a:rPr lang="en-GB" dirty="0"/>
              <a:t> We track system performance metrics such as response times, throughput, and error rates to ensure optimal user experience.</a:t>
            </a:r>
          </a:p>
          <a:p>
            <a:r>
              <a:rPr lang="en-GB" b="1" dirty="0"/>
              <a:t>Resource Utilization:</a:t>
            </a:r>
            <a:r>
              <a:rPr lang="en-GB" dirty="0"/>
              <a:t> Monitoring resource utilization helps us ensure efficient use of server capacity and maintain cost-effectiveness.</a:t>
            </a:r>
          </a:p>
          <a:p>
            <a:r>
              <a:rPr lang="en-GB" b="1" dirty="0"/>
              <a:t>Anomaly Detection:</a:t>
            </a:r>
            <a:r>
              <a:rPr lang="en-GB" dirty="0"/>
              <a:t> We use advanced algorithms for anomaly detection, which alert us to unusual patterns or </a:t>
            </a:r>
            <a:r>
              <a:rPr lang="en-GB" dirty="0" err="1"/>
              <a:t>behavior</a:t>
            </a:r>
            <a:r>
              <a:rPr lang="en-GB" dirty="0"/>
              <a:t> that might indicate issues or threats.</a:t>
            </a:r>
          </a:p>
          <a:p>
            <a:r>
              <a:rPr lang="en-GB" b="1" dirty="0"/>
              <a:t>Security Monitoring:</a:t>
            </a:r>
            <a:r>
              <a:rPr lang="en-GB" dirty="0"/>
              <a:t> Security is a top priority. We monitor system access, authentication, and potential security breaches in real time.</a:t>
            </a:r>
          </a:p>
          <a:p>
            <a:pPr marL="0" indent="0">
              <a:buNone/>
            </a:pPr>
            <a:endParaRPr lang="en-IN" sz="2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584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917331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Logging for Traceability:</a:t>
            </a:r>
            <a:endParaRPr lang="en-IN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685800" y="1763998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Detailed logs are maintained for every interaction and transaction within the system. This traceability ensures accountability and helps in diagnosing issues.</a:t>
            </a:r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5799" y="3038883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Alerting Mechanisms:</a:t>
            </a:r>
            <a:endParaRPr lang="en-IN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685799" y="3882295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We've implemented alerting mechanisms that trigger notifications when predefined thresholds or conditions are met. This allows for immediate action in case of deviations from expected </a:t>
            </a:r>
            <a:r>
              <a:rPr lang="en-GB" dirty="0" err="1"/>
              <a:t>behavior</a:t>
            </a:r>
            <a:r>
              <a:rPr lang="en-GB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1684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917331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User-Centric Approach:</a:t>
            </a:r>
            <a:endParaRPr lang="en-IN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685800" y="1763998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Our real-time monitoring and logging systems are designed with the user in mind. The goal is to provide a seamless and reliable experience for homeowners, buyers, real estate professionals, and investors.</a:t>
            </a:r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5799" y="3038883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Maintaining System Health:</a:t>
            </a:r>
            <a:endParaRPr lang="en-IN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685799" y="3882295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Continuous monitoring and logging are essential to maintaining the overall health of the system, ensuring it operates reliably and efficiently.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8287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type="title"/>
          </p:nvPr>
        </p:nvSpPr>
        <p:spPr>
          <a:xfrm>
            <a:off x="703386" y="2807676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en-IN" sz="6000" b="1" dirty="0">
                <a:latin typeface="Arial Rounded MT Bold" panose="020F0704030504030204" pitchFamily="34" charset="0"/>
              </a:rPr>
              <a:t>Security and Privacy Measures</a:t>
            </a:r>
            <a:endParaRPr lang="en-IN" sz="60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333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1330894"/>
            <a:ext cx="10131425" cy="1456267"/>
          </a:xfrm>
        </p:spPr>
        <p:txBody>
          <a:bodyPr/>
          <a:lstStyle/>
          <a:p>
            <a:r>
              <a:rPr lang="en-IN" b="1" dirty="0"/>
              <a:t>Protecting User Data: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787161"/>
            <a:ext cx="10131425" cy="1412631"/>
          </a:xfrm>
        </p:spPr>
        <p:txBody>
          <a:bodyPr/>
          <a:lstStyle/>
          <a:p>
            <a:r>
              <a:rPr lang="en-GB" dirty="0"/>
              <a:t>In our implementation phase, safeguarding user data and maintaining the confidentiality, integrity, and availability of the system are paramount.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137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94239"/>
            <a:ext cx="10131425" cy="1456267"/>
          </a:xfrm>
        </p:spPr>
        <p:txBody>
          <a:bodyPr/>
          <a:lstStyle/>
          <a:p>
            <a:r>
              <a:rPr lang="en-IN" b="1" dirty="0"/>
              <a:t>Data Security: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Bahnschrift SemiBold Condensed" panose="020B0502040204020203" pitchFamily="34" charset="0"/>
              </a:rPr>
              <a:t>We employ robust data security measures, including but not limited to</a:t>
            </a:r>
            <a:r>
              <a:rPr lang="en-GB" sz="2400" dirty="0" smtClean="0">
                <a:latin typeface="Bahnschrift SemiBold Condensed" panose="020B0502040204020203" pitchFamily="34" charset="0"/>
              </a:rPr>
              <a:t>:</a:t>
            </a:r>
            <a:endParaRPr lang="en-IN" sz="2400" dirty="0" smtClean="0">
              <a:latin typeface="Bahnschrift SemiBold Condensed" panose="020B0502040204020203" pitchFamily="34" charset="0"/>
            </a:endParaRPr>
          </a:p>
          <a:p>
            <a:r>
              <a:rPr lang="en-GB" b="1" dirty="0"/>
              <a:t>Encryption:</a:t>
            </a:r>
            <a:r>
              <a:rPr lang="en-GB" dirty="0"/>
              <a:t> Data transmission and storage are secured using encryption protocols to prevent unauthorized access.</a:t>
            </a:r>
          </a:p>
          <a:p>
            <a:r>
              <a:rPr lang="en-GB" b="1" dirty="0"/>
              <a:t>Access Controls:</a:t>
            </a:r>
            <a:r>
              <a:rPr lang="en-GB" dirty="0"/>
              <a:t> Role-based access controls ensure that only authorized individuals can interact with sensitive data.</a:t>
            </a:r>
          </a:p>
          <a:p>
            <a:r>
              <a:rPr lang="en-GB" b="1" dirty="0"/>
              <a:t>Data Backups:</a:t>
            </a:r>
            <a:r>
              <a:rPr lang="en-GB" dirty="0"/>
              <a:t> Regular data backups are performed to safeguard against data loss due to unforeseen events.</a:t>
            </a:r>
          </a:p>
          <a:p>
            <a:pPr marL="0" indent="0">
              <a:buNone/>
            </a:pPr>
            <a:endParaRPr lang="en-IN" sz="2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812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978877"/>
            <a:ext cx="10131425" cy="1456267"/>
          </a:xfrm>
        </p:spPr>
        <p:txBody>
          <a:bodyPr/>
          <a:lstStyle/>
          <a:p>
            <a:r>
              <a:rPr lang="en-IN" b="1" dirty="0"/>
              <a:t>Model Security: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540978"/>
            <a:ext cx="10131425" cy="24501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Bahnschrift SemiBold Condensed" panose="020B0502040204020203" pitchFamily="34" charset="0"/>
              </a:rPr>
              <a:t>The machine learning model itself is secured through techniques such as</a:t>
            </a:r>
            <a:r>
              <a:rPr lang="en-GB" sz="2400" dirty="0" smtClean="0">
                <a:latin typeface="Bahnschrift SemiBold Condensed" panose="020B0502040204020203" pitchFamily="34" charset="0"/>
              </a:rPr>
              <a:t>:</a:t>
            </a:r>
            <a:endParaRPr lang="en-IN" sz="2400" dirty="0">
              <a:latin typeface="Bahnschrift SemiBold Condensed" panose="020B0502040204020203" pitchFamily="34" charset="0"/>
            </a:endParaRPr>
          </a:p>
          <a:p>
            <a:r>
              <a:rPr lang="en-GB" b="1" dirty="0"/>
              <a:t>Model Encryption:</a:t>
            </a:r>
            <a:r>
              <a:rPr lang="en-GB" dirty="0"/>
              <a:t> In some cases, we encrypt the model to protect its proprietary algorithms.</a:t>
            </a:r>
          </a:p>
          <a:p>
            <a:r>
              <a:rPr lang="en-GB" b="1" dirty="0"/>
              <a:t>Authorization Checks:</a:t>
            </a:r>
            <a:r>
              <a:rPr lang="en-GB" dirty="0"/>
              <a:t> We implement authorization checks to ensure that only authorized users or systems can request model predictions.</a:t>
            </a:r>
          </a:p>
          <a:p>
            <a:pPr marL="0" indent="0">
              <a:buNone/>
            </a:pPr>
            <a:endParaRPr lang="en-IN" sz="24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2454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776654"/>
            <a:ext cx="10131425" cy="1456267"/>
          </a:xfrm>
        </p:spPr>
        <p:txBody>
          <a:bodyPr/>
          <a:lstStyle/>
          <a:p>
            <a:r>
              <a:rPr lang="en-IN" b="1" dirty="0"/>
              <a:t>User Privacy: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57428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>
                <a:latin typeface="Bahnschrift SemiBold Condensed" panose="020B0502040204020203" pitchFamily="34" charset="0"/>
              </a:rPr>
              <a:t>User privacy is a top priority. We adhere to privacy regulations and best practices, which include</a:t>
            </a:r>
            <a:r>
              <a:rPr lang="en-GB" sz="2800" dirty="0" smtClean="0">
                <a:latin typeface="Bahnschrift SemiBold Condensed" panose="020B0502040204020203" pitchFamily="34" charset="0"/>
              </a:rPr>
              <a:t>:</a:t>
            </a:r>
            <a:endParaRPr lang="en-IN" sz="2800" dirty="0">
              <a:latin typeface="Bahnschrift SemiBold Condensed" panose="020B0502040204020203" pitchFamily="34" charset="0"/>
            </a:endParaRPr>
          </a:p>
          <a:p>
            <a:r>
              <a:rPr lang="en-GB" b="1" dirty="0"/>
              <a:t>Data Anonymization:</a:t>
            </a:r>
            <a:r>
              <a:rPr lang="en-GB" dirty="0"/>
              <a:t> Personal user data is anonymized or </a:t>
            </a:r>
            <a:r>
              <a:rPr lang="en-GB" dirty="0" err="1"/>
              <a:t>pseudonymized</a:t>
            </a:r>
            <a:r>
              <a:rPr lang="en-GB" dirty="0"/>
              <a:t> to protect user identity.</a:t>
            </a:r>
          </a:p>
          <a:p>
            <a:r>
              <a:rPr lang="en-GB" b="1" dirty="0"/>
              <a:t>Consent Mechanisms:</a:t>
            </a:r>
            <a:r>
              <a:rPr lang="en-GB" dirty="0"/>
              <a:t> Where applicable, users are provided with clear consent mechanisms to control how their data is used.</a:t>
            </a:r>
          </a:p>
          <a:p>
            <a:pPr marL="0" indent="0">
              <a:buNone/>
            </a:pPr>
            <a:endParaRPr lang="en-IN" sz="28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278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917331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Security Audits and Testing:</a:t>
            </a:r>
            <a:endParaRPr lang="en-IN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685800" y="1763998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Our system undergoes regular security audits and testing, including penetration testing, to identify and address vulnerabilities proactively.</a:t>
            </a:r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5799" y="3038883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Incident Response Plan:</a:t>
            </a:r>
            <a:endParaRPr lang="en-IN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685799" y="3882295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have an incident response plan in place to handle security incidents swiftly and effectively, minimizing potential damage.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0275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917331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User Awareness:</a:t>
            </a:r>
            <a:endParaRPr lang="en-IN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685799" y="1763998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We also invest in user education and awareness regarding data security and privacy, fostering a collaborative approach to safeguarding user information.</a:t>
            </a:r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5799" y="3038883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Compliance:</a:t>
            </a:r>
            <a:endParaRPr lang="en-IN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685799" y="3882295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Compliance with relevant data protection regulations, such as GDPR or CCPA, is a key aspect of our security and privacy measures.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5024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047" y="2640623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6000" dirty="0" smtClean="0">
                <a:latin typeface="Bahnschrift SemiBold Condensed" panose="020B0502040204020203" pitchFamily="34" charset="0"/>
              </a:rPr>
              <a:t>CONCLUSION</a:t>
            </a:r>
            <a:endParaRPr lang="en-IN" sz="60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822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799" y="917331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Key Takeaways:</a:t>
            </a:r>
            <a:endParaRPr lang="en-IN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685799" y="1763998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 we conclude our journey from design to implementation of a house price prediction system, let's recap the key takeaways:</a:t>
            </a:r>
            <a:endParaRPr lang="en-IN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85799" y="3038883"/>
            <a:ext cx="10131425" cy="73562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/>
              <a:t>Empowering Decision-Making:</a:t>
            </a:r>
            <a:endParaRPr lang="en-IN" dirty="0"/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685799" y="3882295"/>
            <a:ext cx="10131425" cy="1163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Accurate house price predictions empower homeowners, buyers, real estate professionals, and investors to make informed and confident decisions.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9593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Achievements: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>
                <a:latin typeface="Bahnschrift SemiBold Condensed" panose="020B0502040204020203" pitchFamily="34" charset="0"/>
              </a:rPr>
              <a:t>We successfully</a:t>
            </a:r>
            <a:r>
              <a:rPr lang="en-IN" sz="3200" dirty="0" smtClean="0">
                <a:latin typeface="Bahnschrift SemiBold Condensed" panose="020B0502040204020203" pitchFamily="34" charset="0"/>
              </a:rPr>
              <a:t>:</a:t>
            </a:r>
            <a:endParaRPr lang="en-IN" sz="3200" dirty="0">
              <a:latin typeface="Bahnschrift SemiBold Condensed" panose="020B0502040204020203" pitchFamily="34" charset="0"/>
            </a:endParaRPr>
          </a:p>
          <a:p>
            <a:r>
              <a:rPr lang="en-GB" dirty="0"/>
              <a:t>Defined the problem and set specific goals.</a:t>
            </a:r>
          </a:p>
          <a:p>
            <a:r>
              <a:rPr lang="en-GB" dirty="0"/>
              <a:t>Gathered user insights through empathy.</a:t>
            </a:r>
          </a:p>
          <a:p>
            <a:r>
              <a:rPr lang="en-GB" dirty="0"/>
              <a:t>Defined project scope and constraints.</a:t>
            </a:r>
          </a:p>
          <a:p>
            <a:r>
              <a:rPr lang="en-GB" dirty="0"/>
              <a:t>Generated innovative ideas during the ideation phase.</a:t>
            </a:r>
          </a:p>
          <a:p>
            <a:r>
              <a:rPr lang="en-GB" dirty="0"/>
              <a:t>Prototyped machine learning models and data pipelines.</a:t>
            </a:r>
          </a:p>
          <a:p>
            <a:r>
              <a:rPr lang="en-GB" dirty="0"/>
              <a:t>Rigorously tested and iterated on our models.</a:t>
            </a:r>
          </a:p>
          <a:p>
            <a:pPr marL="0" indent="0">
              <a:buNone/>
            </a:pPr>
            <a:endParaRPr lang="en-IN" sz="32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8694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71546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7200" dirty="0" smtClean="0">
                <a:latin typeface="Algerian" panose="04020705040A02060702" pitchFamily="82" charset="0"/>
              </a:rPr>
              <a:t>THANK YOU</a:t>
            </a:r>
            <a:endParaRPr lang="en-IN" sz="72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38583"/>
            <a:ext cx="10131425" cy="364913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600" dirty="0">
                <a:latin typeface="Bell MT" panose="02020503060305020303" pitchFamily="18" charset="0"/>
              </a:rPr>
              <a:t>As we conclude, we move into the "Implement" phase, where we deploy our model for practical use and gather real-world feedback to drive further improvements.</a:t>
            </a:r>
            <a:endParaRPr lang="en-IN" sz="36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2604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64</TotalTime>
  <Words>1785</Words>
  <Application>Microsoft Office PowerPoint</Application>
  <PresentationFormat>Widescreen</PresentationFormat>
  <Paragraphs>143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Algerian</vt:lpstr>
      <vt:lpstr>Arial</vt:lpstr>
      <vt:lpstr>Arial Rounded MT Bold</vt:lpstr>
      <vt:lpstr>Bahnschrift SemiBold Condensed</vt:lpstr>
      <vt:lpstr>Bell MT</vt:lpstr>
      <vt:lpstr>Bernard MT Condensed</vt:lpstr>
      <vt:lpstr>Calibri</vt:lpstr>
      <vt:lpstr>Calibri Light</vt:lpstr>
      <vt:lpstr>Copperplate Gothic Light</vt:lpstr>
      <vt:lpstr>Celestial</vt:lpstr>
      <vt:lpstr>Predicting House Prices Using Machine Learning</vt:lpstr>
      <vt:lpstr>From Design to Reality: Implementing a House Price Prediction System</vt:lpstr>
      <vt:lpstr>INTRODUCTION</vt:lpstr>
      <vt:lpstr>Presentation Goals:</vt:lpstr>
      <vt:lpstr>The Implementation Phase</vt:lpstr>
      <vt:lpstr>Key Objectives:</vt:lpstr>
      <vt:lpstr>Building Blocks:</vt:lpstr>
      <vt:lpstr>MODEL SELECTION</vt:lpstr>
      <vt:lpstr>Choosing the Right Model:</vt:lpstr>
      <vt:lpstr>Model Characteristics:</vt:lpstr>
      <vt:lpstr>Model Evaluation:</vt:lpstr>
      <vt:lpstr>Model Export and Deployment</vt:lpstr>
      <vt:lpstr>Model Export:</vt:lpstr>
      <vt:lpstr>Key Considerations:</vt:lpstr>
      <vt:lpstr>Deployment Strategies:</vt:lpstr>
      <vt:lpstr>Scaling for User Access:</vt:lpstr>
      <vt:lpstr>Data Pipeline Development</vt:lpstr>
      <vt:lpstr>Data Processing Backbone:</vt:lpstr>
      <vt:lpstr>Key Components:</vt:lpstr>
      <vt:lpstr>Scalability and Performance:</vt:lpstr>
      <vt:lpstr>Real-time Monitoring and Logging</vt:lpstr>
      <vt:lpstr>PowerPoint Presentation</vt:lpstr>
      <vt:lpstr>Key Aspects of Monitoring:</vt:lpstr>
      <vt:lpstr>PowerPoint Presentation</vt:lpstr>
      <vt:lpstr>PowerPoint Presentation</vt:lpstr>
      <vt:lpstr>Security and Privacy Measures</vt:lpstr>
      <vt:lpstr>Protecting User Data:</vt:lpstr>
      <vt:lpstr>Data Security:</vt:lpstr>
      <vt:lpstr>Model Security:</vt:lpstr>
      <vt:lpstr>User Privacy:</vt:lpstr>
      <vt:lpstr>PowerPoint Presentation</vt:lpstr>
      <vt:lpstr>PowerPoint Presentation</vt:lpstr>
      <vt:lpstr>CONCLUSION</vt:lpstr>
      <vt:lpstr>PowerPoint Presentation</vt:lpstr>
      <vt:lpstr>Achievements: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House Prices Using Machine Learning</dc:title>
  <dc:creator>Kidboy_03</dc:creator>
  <cp:lastModifiedBy>Kidboy_03</cp:lastModifiedBy>
  <cp:revision>8</cp:revision>
  <dcterms:created xsi:type="dcterms:W3CDTF">2023-10-06T01:05:35Z</dcterms:created>
  <dcterms:modified xsi:type="dcterms:W3CDTF">2023-10-06T02:21:47Z</dcterms:modified>
</cp:coreProperties>
</file>