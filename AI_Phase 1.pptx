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57" r:id="rId4"/>
    <p:sldId id="258" r:id="rId5"/>
    <p:sldId id="274" r:id="rId6"/>
    <p:sldId id="259" r:id="rId7"/>
    <p:sldId id="260" r:id="rId8"/>
    <p:sldId id="275" r:id="rId9"/>
    <p:sldId id="261" r:id="rId10"/>
    <p:sldId id="262" r:id="rId11"/>
    <p:sldId id="263" r:id="rId12"/>
    <p:sldId id="264" r:id="rId13"/>
    <p:sldId id="276" r:id="rId14"/>
    <p:sldId id="265" r:id="rId15"/>
    <p:sldId id="266" r:id="rId16"/>
    <p:sldId id="267" r:id="rId17"/>
    <p:sldId id="277" r:id="rId18"/>
    <p:sldId id="268" r:id="rId19"/>
    <p:sldId id="269" r:id="rId20"/>
    <p:sldId id="278" r:id="rId21"/>
    <p:sldId id="270" r:id="rId22"/>
    <p:sldId id="271" r:id="rId23"/>
    <p:sldId id="272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dboy_03" initials="K" lastIdx="1" clrIdx="0">
    <p:extLst>
      <p:ext uri="{19B8F6BF-5375-455C-9EA6-DF929625EA0E}">
        <p15:presenceInfo xmlns:p15="http://schemas.microsoft.com/office/powerpoint/2012/main" userId="Kidboy_03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50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44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178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240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639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40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9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278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61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6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6316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647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8877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148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413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48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D7F90-C0F5-40D8-AC5E-242AAD9BF5B0}" type="datetimeFigureOut">
              <a:rPr lang="en-IN" smtClean="0"/>
              <a:t>28-09-2023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7812DFE-B1ED-4CE1-BE89-6062C370B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9536" y="571500"/>
            <a:ext cx="8705088" cy="2066192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GB" sz="4000" b="1" dirty="0">
                <a:solidFill>
                  <a:schemeClr val="accent2"/>
                </a:solidFill>
                <a:latin typeface="Copperplate Gothic Light" panose="020E0507020206020404" pitchFamily="34" charset="0"/>
              </a:rPr>
              <a:t>Predicting House Prices Using Machine Learning</a:t>
            </a:r>
            <a:endParaRPr lang="en-IN" sz="4000" b="1" dirty="0">
              <a:solidFill>
                <a:schemeClr val="accent2"/>
              </a:solidFill>
              <a:latin typeface="Copperplate Gothic Light" panose="020E05070202060204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9536" y="3042137"/>
            <a:ext cx="8705088" cy="975947"/>
          </a:xfrm>
          <a:noFill/>
        </p:spPr>
        <p:txBody>
          <a:bodyPr>
            <a:normAutofit/>
          </a:bodyPr>
          <a:lstStyle/>
          <a:p>
            <a:pPr algn="l"/>
            <a:r>
              <a:rPr lang="en-IN" sz="4000" u="sng" dirty="0">
                <a:solidFill>
                  <a:schemeClr val="accent2"/>
                </a:solidFill>
                <a:latin typeface="Bell MT" panose="02020503060305020303" pitchFamily="18" charset="0"/>
              </a:rPr>
              <a:t>A Design Thinking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88623" y="4281854"/>
            <a:ext cx="38760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               </a:t>
            </a:r>
            <a:r>
              <a:rPr lang="en-IN" sz="2000" dirty="0" smtClean="0">
                <a:solidFill>
                  <a:schemeClr val="accent1"/>
                </a:solidFill>
                <a:latin typeface="Bernard MT Condensed" panose="02050806060905020404" pitchFamily="18" charset="0"/>
              </a:rPr>
              <a:t>TEAM MEMBERS</a:t>
            </a:r>
          </a:p>
          <a:p>
            <a:pPr marL="342900" indent="-342900">
              <a:buFontTx/>
              <a:buChar char="-"/>
            </a:pPr>
            <a:r>
              <a:rPr lang="en-IN" sz="2000" dirty="0" err="1" smtClean="0"/>
              <a:t>Karthikeyan</a:t>
            </a:r>
            <a:r>
              <a:rPr lang="en-IN" sz="2000" dirty="0" smtClean="0"/>
              <a:t> </a:t>
            </a:r>
            <a:r>
              <a:rPr lang="en-IN" sz="2000" dirty="0" err="1" smtClean="0"/>
              <a:t>Arun</a:t>
            </a:r>
            <a:r>
              <a:rPr lang="en-IN" sz="2000" dirty="0" smtClean="0"/>
              <a:t> Kumar(TL)</a:t>
            </a:r>
          </a:p>
          <a:p>
            <a:pPr marL="342900" indent="-342900">
              <a:buFontTx/>
              <a:buChar char="-"/>
            </a:pPr>
            <a:r>
              <a:rPr lang="en-IN" sz="2000" dirty="0" err="1" smtClean="0"/>
              <a:t>Ajay.P</a:t>
            </a:r>
            <a:endParaRPr lang="en-IN" sz="2000" dirty="0" smtClean="0"/>
          </a:p>
          <a:p>
            <a:pPr marL="342900" indent="-342900">
              <a:buFontTx/>
              <a:buChar char="-"/>
            </a:pPr>
            <a:r>
              <a:rPr lang="en-IN" sz="2000" dirty="0" err="1" smtClean="0"/>
              <a:t>Elakiyan.S</a:t>
            </a:r>
            <a:endParaRPr lang="en-IN" sz="2000" dirty="0" smtClean="0"/>
          </a:p>
          <a:p>
            <a:pPr marL="342900" indent="-342900">
              <a:buFontTx/>
              <a:buChar char="-"/>
            </a:pPr>
            <a:r>
              <a:rPr lang="en-IN" sz="2000" dirty="0" smtClean="0"/>
              <a:t>Gladwin Prince</a:t>
            </a:r>
          </a:p>
          <a:p>
            <a:pPr marL="342900" indent="-342900">
              <a:buFontTx/>
              <a:buChar char="-"/>
            </a:pPr>
            <a:r>
              <a:rPr lang="en-IN" sz="2000" dirty="0" err="1" smtClean="0"/>
              <a:t>Ajith.P</a:t>
            </a:r>
            <a:endParaRPr lang="en-IN" sz="2000" dirty="0" smtClean="0"/>
          </a:p>
        </p:txBody>
      </p:sp>
    </p:spTree>
    <p:extLst>
      <p:ext uri="{BB962C8B-B14F-4D97-AF65-F5344CB8AC3E}">
        <p14:creationId xmlns:p14="http://schemas.microsoft.com/office/powerpoint/2010/main" val="359559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591394"/>
          </a:xfrm>
        </p:spPr>
        <p:txBody>
          <a:bodyPr/>
          <a:lstStyle/>
          <a:p>
            <a:pPr algn="ctr"/>
            <a:r>
              <a:rPr lang="en-IN" sz="8800" dirty="0" smtClean="0">
                <a:latin typeface="Algerian" panose="04020705040A02060702" pitchFamily="82" charset="0"/>
              </a:rPr>
              <a:t>INTRODUCTION</a:t>
            </a:r>
            <a:endParaRPr lang="en-IN" sz="8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78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6670"/>
            <a:ext cx="8596668" cy="677008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bg2"/>
                </a:solidFill>
              </a:rPr>
              <a:t>Why is Predicting House Prices Important?</a:t>
            </a:r>
            <a:endParaRPr lang="en-IN" sz="3200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46385"/>
            <a:ext cx="8596668" cy="4194977"/>
          </a:xfrm>
        </p:spPr>
        <p:txBody>
          <a:bodyPr>
            <a:normAutofit/>
          </a:bodyPr>
          <a:lstStyle/>
          <a:p>
            <a:r>
              <a:rPr lang="en-GB" sz="2000" dirty="0"/>
              <a:t>House prices have a significant impact on individuals, families, and investors. Accurate predictions can help homeowners make informed decisions about selling their properties and assist buyers in making wise investments</a:t>
            </a:r>
            <a:r>
              <a:rPr lang="en-GB" sz="2000" dirty="0" smtClean="0"/>
              <a:t>.</a:t>
            </a:r>
          </a:p>
          <a:p>
            <a:r>
              <a:rPr lang="en-GB" sz="2000" dirty="0"/>
              <a:t>Real estate professionals, such as agents and brokers, can benefit from reliable price predictions to provide better services to their clients</a:t>
            </a:r>
            <a:r>
              <a:rPr lang="en-GB" sz="2000" dirty="0" smtClean="0"/>
              <a:t>.</a:t>
            </a:r>
          </a:p>
          <a:p>
            <a:r>
              <a:rPr lang="en-GB" sz="2000" dirty="0"/>
              <a:t>Investors in real estate can optimize their portfolios and make data-driven decisions for maximum returns</a:t>
            </a:r>
            <a:r>
              <a:rPr lang="en-GB" sz="2000" dirty="0" smtClean="0"/>
              <a:t>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624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1662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The Design Thinking Approach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12277"/>
            <a:ext cx="8596668" cy="1679331"/>
          </a:xfrm>
        </p:spPr>
        <p:txBody>
          <a:bodyPr/>
          <a:lstStyle/>
          <a:p>
            <a:r>
              <a:rPr lang="en-GB" dirty="0"/>
              <a:t>We'll take you through a journey of problem-solving, starting with empathy for user needs, defining clear goals, and iterating to create a robust machine learning solution</a:t>
            </a:r>
            <a:r>
              <a:rPr lang="en-GB" dirty="0" smtClean="0"/>
              <a:t>.</a:t>
            </a:r>
          </a:p>
          <a:p>
            <a:r>
              <a:rPr lang="en-GB" dirty="0"/>
              <a:t>Our approach is rooted in design thinking, a problem-solving framework that emphasizes user-</a:t>
            </a:r>
            <a:r>
              <a:rPr lang="en-GB" dirty="0" err="1"/>
              <a:t>centered</a:t>
            </a:r>
            <a:r>
              <a:rPr lang="en-GB" dirty="0"/>
              <a:t> solutions and iterative improvements.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7334" y="3191608"/>
            <a:ext cx="8749068" cy="703384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bg1"/>
                </a:solidFill>
              </a:rPr>
              <a:t>Key Takeaways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77334" y="4176345"/>
            <a:ext cx="8749068" cy="2321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By the end of this presentation, you will understand the importance of accurate house price predictions and how to approach this challenge systematically using machine learning and design thinking.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52456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4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07067" y="2084832"/>
            <a:ext cx="7766936" cy="1764792"/>
          </a:xfrm>
        </p:spPr>
        <p:txBody>
          <a:bodyPr/>
          <a:lstStyle/>
          <a:p>
            <a:pPr algn="ctr"/>
            <a:r>
              <a:rPr lang="en-IN" sz="6000" dirty="0" smtClean="0">
                <a:latin typeface="Algerian" panose="04020705040A02060702" pitchFamily="82" charset="0"/>
              </a:rPr>
              <a:t>PROBLEM DEFINITION</a:t>
            </a:r>
            <a:endParaRPr lang="en-IN" sz="6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71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0115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Defining the Core Problem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38654"/>
            <a:ext cx="8596668" cy="1573823"/>
          </a:xfrm>
        </p:spPr>
        <p:txBody>
          <a:bodyPr/>
          <a:lstStyle/>
          <a:p>
            <a:r>
              <a:rPr lang="en-GB" dirty="0"/>
              <a:t>Our central challenge is to develop a machine learning model capable of predicting house prices accurately</a:t>
            </a:r>
            <a:r>
              <a:rPr lang="en-GB" dirty="0" smtClean="0"/>
              <a:t>.</a:t>
            </a:r>
          </a:p>
          <a:p>
            <a:r>
              <a:rPr lang="en-GB" dirty="0"/>
              <a:t>Accurate price predictions are vital for homeowners, prospective buyers, real estate professionals, and investors.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77334" y="3244334"/>
            <a:ext cx="8596668" cy="58477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Specific Goals and Metrics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77334" y="4106008"/>
            <a:ext cx="4369451" cy="2532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 gauge success, we have set specific goals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-</a:t>
            </a:r>
            <a:r>
              <a:rPr lang="en-IN" sz="1200" dirty="0"/>
              <a:t>Minimize prediction errors</a:t>
            </a:r>
            <a:r>
              <a:rPr lang="en-IN" sz="1200" dirty="0" smtClean="0"/>
              <a:t>.</a:t>
            </a:r>
          </a:p>
          <a:p>
            <a:pPr marL="0" indent="0">
              <a:buNone/>
            </a:pPr>
            <a:r>
              <a:rPr lang="en-IN" sz="1200" dirty="0" smtClean="0"/>
              <a:t>      -</a:t>
            </a:r>
            <a:r>
              <a:rPr lang="en-GB" sz="1200" dirty="0"/>
              <a:t>Enhance user confidence in our predictions</a:t>
            </a:r>
            <a:r>
              <a:rPr lang="en-GB" sz="1200" dirty="0" smtClean="0"/>
              <a:t>.</a:t>
            </a:r>
          </a:p>
          <a:p>
            <a:pPr marL="0" indent="0">
              <a:buNone/>
            </a:pPr>
            <a:r>
              <a:rPr lang="en-GB" sz="1200" dirty="0"/>
              <a:t> </a:t>
            </a:r>
            <a:r>
              <a:rPr lang="en-GB" sz="1200" dirty="0" smtClean="0"/>
              <a:t>     -</a:t>
            </a:r>
            <a:r>
              <a:rPr lang="en-GB" sz="1200" dirty="0"/>
              <a:t>Improve the model's predictive performance over time.</a:t>
            </a:r>
            <a:r>
              <a:rPr lang="en-GB" sz="1200" dirty="0" smtClean="0"/>
              <a:t>        </a:t>
            </a:r>
            <a:endParaRPr lang="en-IN" sz="1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932484" y="4106008"/>
            <a:ext cx="4341517" cy="2593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Metrics for success include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GB" dirty="0" smtClean="0"/>
              <a:t>   </a:t>
            </a:r>
          </a:p>
          <a:p>
            <a:pPr marL="0" indent="0">
              <a:buNone/>
            </a:pPr>
            <a:r>
              <a:rPr lang="en-GB" sz="1200" dirty="0"/>
              <a:t> </a:t>
            </a:r>
            <a:r>
              <a:rPr lang="en-GB" sz="1200" dirty="0" smtClean="0"/>
              <a:t>    </a:t>
            </a:r>
            <a:r>
              <a:rPr lang="en-IN" sz="1200" dirty="0" smtClean="0"/>
              <a:t> -Mean </a:t>
            </a:r>
            <a:r>
              <a:rPr lang="en-IN" sz="1200" dirty="0"/>
              <a:t>Absolute Error (MAE).</a:t>
            </a:r>
            <a:r>
              <a:rPr lang="en-GB" sz="1200" dirty="0" smtClean="0"/>
              <a:t>     </a:t>
            </a:r>
          </a:p>
          <a:p>
            <a:pPr marL="0" indent="0">
              <a:buNone/>
            </a:pPr>
            <a:r>
              <a:rPr lang="en-GB" sz="1200" dirty="0"/>
              <a:t> </a:t>
            </a:r>
            <a:r>
              <a:rPr lang="en-GB" sz="1200" dirty="0" smtClean="0"/>
              <a:t>     -</a:t>
            </a:r>
            <a:r>
              <a:rPr lang="en-IN" sz="1200" dirty="0"/>
              <a:t>R-squared score</a:t>
            </a:r>
            <a:r>
              <a:rPr lang="en-IN" sz="1200" dirty="0" smtClean="0"/>
              <a:t>.</a:t>
            </a:r>
            <a:endParaRPr lang="en-GB" sz="1200" dirty="0"/>
          </a:p>
          <a:p>
            <a:pPr marL="0" indent="0">
              <a:buNone/>
            </a:pPr>
            <a:r>
              <a:rPr lang="en-GB" sz="1200" dirty="0" smtClean="0"/>
              <a:t>      -</a:t>
            </a:r>
            <a:r>
              <a:rPr lang="en-IN" sz="1200" dirty="0"/>
              <a:t>User satisfaction ratings.</a:t>
            </a:r>
            <a:r>
              <a:rPr lang="en-GB" sz="1200" dirty="0" smtClean="0"/>
              <a:t>        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570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0454"/>
          </a:xfrm>
          <a:solidFill>
            <a:schemeClr val="accent2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Impact on Real Estate Market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44163"/>
            <a:ext cx="8596668" cy="1397975"/>
          </a:xfrm>
        </p:spPr>
        <p:txBody>
          <a:bodyPr/>
          <a:lstStyle/>
          <a:p>
            <a:r>
              <a:rPr lang="en-GB" dirty="0"/>
              <a:t>Accurate predictions contribute to market stability and informed decision-making</a:t>
            </a:r>
            <a:r>
              <a:rPr lang="en-GB" dirty="0" smtClean="0"/>
              <a:t>.</a:t>
            </a:r>
          </a:p>
          <a:p>
            <a:r>
              <a:rPr lang="en-GB" dirty="0"/>
              <a:t>Inaccurate pricing can lead to market volatility and decreased confidence in real estate investments.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7334" y="3253154"/>
            <a:ext cx="8596668" cy="67700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bg1"/>
                </a:solidFill>
              </a:rPr>
              <a:t>Our Objective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7334" y="4141178"/>
            <a:ext cx="8596668" cy="2215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Our primary objective is to leverage data-driven machine learning techniques to create a model that offers precise house price predictions, benefitting homeowners, buyers, real estate professionals, and investors alike.</a:t>
            </a:r>
            <a:br>
              <a:rPr lang="en-GB" dirty="0"/>
            </a:b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419236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4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sz="8800" dirty="0" smtClean="0">
                <a:latin typeface="Algerian" panose="04020705040A02060702" pitchFamily="82" charset="0"/>
              </a:rPr>
              <a:t>EMPATHIZE</a:t>
            </a:r>
            <a:endParaRPr lang="en-IN" sz="8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86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Understanding User Needs and Pain Points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"Empathize" phase of our design thinking approach, we focus on gaining a deep understanding of the needs, aspirations, and pain points of our target users</a:t>
            </a:r>
            <a:r>
              <a:rPr lang="en-GB" dirty="0" smtClean="0"/>
              <a:t>.</a:t>
            </a:r>
          </a:p>
          <a:p>
            <a:r>
              <a:rPr lang="en-GB" dirty="0"/>
              <a:t>Our primary stakeholders include homeowners, buyers, real estate professionals, and investors.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58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941832"/>
            <a:ext cx="8596668" cy="685800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Methods for Empathy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170754" cy="3880773"/>
          </a:xfrm>
        </p:spPr>
        <p:txBody>
          <a:bodyPr/>
          <a:lstStyle/>
          <a:p>
            <a:r>
              <a:rPr lang="en-GB" dirty="0"/>
              <a:t>We utilize various methods to empathize with our users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r>
              <a:rPr lang="en-GB" dirty="0" smtClean="0"/>
              <a:t>          -</a:t>
            </a:r>
            <a:r>
              <a:rPr lang="en-GB" dirty="0"/>
              <a:t>Conducting one-on-one interviews to gather personal insights and experiences</a:t>
            </a:r>
            <a:r>
              <a:rPr lang="en-GB" dirty="0" smtClean="0"/>
              <a:t>.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      -</a:t>
            </a:r>
            <a:r>
              <a:rPr lang="en-GB" dirty="0"/>
              <a:t>Distributing surveys to collect quantitative data on user preferences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-</a:t>
            </a:r>
            <a:r>
              <a:rPr lang="en-GB" dirty="0" err="1"/>
              <a:t>Analyzing</a:t>
            </a:r>
            <a:r>
              <a:rPr lang="en-GB" dirty="0"/>
              <a:t> market research and trends to identify broader patterns.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21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848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Challenges and Pain Points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45921"/>
            <a:ext cx="8704410" cy="4395442"/>
          </a:xfrm>
        </p:spPr>
        <p:txBody>
          <a:bodyPr/>
          <a:lstStyle/>
          <a:p>
            <a:r>
              <a:rPr lang="en-GB" dirty="0"/>
              <a:t>Through our empathy-driven research, we've identified several common challenges and pain points among our users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-</a:t>
            </a:r>
            <a:r>
              <a:rPr lang="en-GB" dirty="0"/>
              <a:t>Homeowners may struggle to determine the right selling </a:t>
            </a:r>
            <a:r>
              <a:rPr lang="en-GB" dirty="0" smtClean="0"/>
              <a:t>price.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-</a:t>
            </a:r>
            <a:r>
              <a:rPr lang="en-GB" dirty="0"/>
              <a:t>Buyers often face uncertainty about fair market values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-</a:t>
            </a:r>
            <a:r>
              <a:rPr lang="en-GB" dirty="0"/>
              <a:t>Real estate professionals need accurate tools to assist </a:t>
            </a:r>
            <a:r>
              <a:rPr lang="en-GB" dirty="0" smtClean="0"/>
              <a:t>clients effectively.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-</a:t>
            </a:r>
            <a:r>
              <a:rPr lang="en-GB" dirty="0"/>
              <a:t>Investors seek data-driven insights for portfolio optimization.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01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6280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User-</a:t>
            </a:r>
            <a:r>
              <a:rPr lang="en-IN" b="1" dirty="0" err="1">
                <a:solidFill>
                  <a:schemeClr val="bg1"/>
                </a:solidFill>
              </a:rPr>
              <a:t>Centered</a:t>
            </a:r>
            <a:r>
              <a:rPr lang="en-IN" b="1" dirty="0">
                <a:solidFill>
                  <a:schemeClr val="bg1"/>
                </a:solidFill>
              </a:rPr>
              <a:t> Approach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28801"/>
            <a:ext cx="8596668" cy="4212562"/>
          </a:xfrm>
        </p:spPr>
        <p:txBody>
          <a:bodyPr/>
          <a:lstStyle/>
          <a:p>
            <a:r>
              <a:rPr lang="en-GB" dirty="0"/>
              <a:t>Our commitment to empathy ensures that our machine learning solution is user-</a:t>
            </a:r>
            <a:r>
              <a:rPr lang="en-GB" dirty="0" err="1"/>
              <a:t>centered</a:t>
            </a:r>
            <a:r>
              <a:rPr lang="en-GB" dirty="0" smtClean="0"/>
              <a:t>.</a:t>
            </a:r>
          </a:p>
          <a:p>
            <a:r>
              <a:rPr lang="en-GB" dirty="0"/>
              <a:t>We aim to address the specific needs and pain points of our users, ultimately providing value and enhancing their experiences.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31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sz="8000" dirty="0" smtClean="0">
                <a:latin typeface="Algerian" panose="04020705040A02060702" pitchFamily="82" charset="0"/>
              </a:rPr>
              <a:t>DEFINE</a:t>
            </a:r>
            <a:endParaRPr lang="en-IN" sz="8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54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3712"/>
          </a:xfrm>
          <a:solidFill>
            <a:schemeClr val="accent2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Defining the Scope and Constraints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5065"/>
            <a:ext cx="8596668" cy="1142999"/>
          </a:xfrm>
        </p:spPr>
        <p:txBody>
          <a:bodyPr/>
          <a:lstStyle/>
          <a:p>
            <a:r>
              <a:rPr lang="en-GB" dirty="0"/>
              <a:t>In the "Define" phase, we establish the boundaries and constraints of our project to ensure clarity and alignment with our objectives</a:t>
            </a:r>
            <a:r>
              <a:rPr lang="en-GB" dirty="0" smtClean="0"/>
              <a:t>.</a:t>
            </a:r>
          </a:p>
          <a:p>
            <a:r>
              <a:rPr lang="en-GB" dirty="0"/>
              <a:t>This phase sets the stage for our machine learning model development.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7334" y="2999232"/>
            <a:ext cx="8596668" cy="66751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bg1"/>
                </a:solidFill>
              </a:rPr>
              <a:t>Geographical Scope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7334" y="3986784"/>
            <a:ext cx="8596668" cy="2377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define the geographical area within which our model will operate. This may include specific cities, regions, or even countries</a:t>
            </a:r>
            <a:r>
              <a:rPr lang="en-GB" dirty="0" smtClean="0"/>
              <a:t>.</a:t>
            </a:r>
          </a:p>
          <a:p>
            <a:r>
              <a:rPr lang="en-GB" dirty="0"/>
              <a:t>By narrowing our scope, we can tailor our model to the unique dynamics of the chosen real estate market.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60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4" grpId="0" animBg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95123"/>
            <a:ext cx="8596668" cy="734568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Property Types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3353"/>
            <a:ext cx="8596668" cy="1435607"/>
          </a:xfrm>
        </p:spPr>
        <p:txBody>
          <a:bodyPr/>
          <a:lstStyle/>
          <a:p>
            <a:r>
              <a:rPr lang="en-GB" dirty="0"/>
              <a:t>We specify the types of properties our model will predict prices for. These could range from residential homes to commercial properties or a mix</a:t>
            </a:r>
            <a:r>
              <a:rPr lang="en-GB" dirty="0" smtClean="0"/>
              <a:t>.</a:t>
            </a:r>
          </a:p>
          <a:p>
            <a:r>
              <a:rPr lang="en-GB" dirty="0"/>
              <a:t>Defining property types helps us gather relevant data and build specialized models when necessary.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7334" y="3095245"/>
            <a:ext cx="8596668" cy="6858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bg1"/>
                </a:solidFill>
              </a:rPr>
              <a:t>Data Sources and Availability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7334" y="4078225"/>
            <a:ext cx="8596668" cy="2249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Identifying and assessing data sources is a crucial part of defining our project</a:t>
            </a:r>
            <a:r>
              <a:rPr lang="en-GB" dirty="0" smtClean="0"/>
              <a:t>.</a:t>
            </a:r>
          </a:p>
          <a:p>
            <a:r>
              <a:rPr lang="en-GB" dirty="0"/>
              <a:t>We need to consider data availability, quality, and relevance. This may include real estate databases, government records, economic indicators, and more.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03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4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5424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Documentation and Communication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10513"/>
            <a:ext cx="8596668" cy="4230850"/>
          </a:xfrm>
        </p:spPr>
        <p:txBody>
          <a:bodyPr/>
          <a:lstStyle/>
          <a:p>
            <a:r>
              <a:rPr lang="en-GB" dirty="0"/>
              <a:t>Clearly documenting our project's scope and constraints is essential for transparency and project management</a:t>
            </a:r>
            <a:r>
              <a:rPr lang="en-GB" dirty="0" smtClean="0"/>
              <a:t>.</a:t>
            </a:r>
          </a:p>
          <a:p>
            <a:r>
              <a:rPr lang="en-GB" dirty="0"/>
              <a:t>Effective communication of these details ensures all team members and stakeholders are on the same page.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39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sz="8000" dirty="0" smtClean="0">
                <a:latin typeface="Algerian" panose="04020705040A02060702" pitchFamily="82" charset="0"/>
              </a:rPr>
              <a:t>IDEATE</a:t>
            </a:r>
            <a:endParaRPr lang="en-IN" sz="8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08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3712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Features for Predictive Model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678" y="2641093"/>
            <a:ext cx="8596668" cy="3357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 smtClean="0"/>
              <a:t> -Property-specific </a:t>
            </a:r>
            <a:r>
              <a:rPr lang="en-GB" sz="1600" dirty="0"/>
              <a:t>features (size, number of bedrooms, bathrooms, location, amenities</a:t>
            </a:r>
            <a:r>
              <a:rPr lang="en-GB" sz="1600" dirty="0" smtClean="0"/>
              <a:t>).</a:t>
            </a:r>
          </a:p>
          <a:p>
            <a:pPr marL="0" indent="0">
              <a:buNone/>
            </a:pPr>
            <a:r>
              <a:rPr lang="en-GB" sz="1600" dirty="0"/>
              <a:t> </a:t>
            </a:r>
            <a:r>
              <a:rPr lang="en-GB" sz="1600" dirty="0" smtClean="0"/>
              <a:t>-</a:t>
            </a:r>
            <a:r>
              <a:rPr lang="en-GB" sz="1600" dirty="0"/>
              <a:t>Historical sales data (previous transaction prices, trends</a:t>
            </a:r>
            <a:r>
              <a:rPr lang="en-GB" sz="1600" dirty="0" smtClean="0"/>
              <a:t>).</a:t>
            </a:r>
          </a:p>
          <a:p>
            <a:pPr marL="0" indent="0">
              <a:buNone/>
            </a:pPr>
            <a:r>
              <a:rPr lang="en-GB" sz="1600" dirty="0"/>
              <a:t> </a:t>
            </a:r>
            <a:r>
              <a:rPr lang="en-GB" sz="1600" dirty="0" smtClean="0"/>
              <a:t>-</a:t>
            </a:r>
            <a:r>
              <a:rPr lang="en-GB" sz="1600" dirty="0"/>
              <a:t>Economic indicators (interest rates, inflation, GDP</a:t>
            </a:r>
            <a:r>
              <a:rPr lang="en-GB" sz="1600" dirty="0" smtClean="0"/>
              <a:t>).</a:t>
            </a:r>
          </a:p>
          <a:p>
            <a:pPr marL="0" indent="0">
              <a:buNone/>
            </a:pPr>
            <a:r>
              <a:rPr lang="en-GB" sz="1600" dirty="0" smtClean="0"/>
              <a:t> -</a:t>
            </a:r>
            <a:r>
              <a:rPr lang="en-GB" sz="1600" dirty="0"/>
              <a:t>Demographic data (population trends, income levels</a:t>
            </a:r>
            <a:r>
              <a:rPr lang="en-GB" sz="1600" dirty="0" smtClean="0"/>
              <a:t>).</a:t>
            </a:r>
          </a:p>
          <a:p>
            <a:pPr marL="0" indent="0">
              <a:buNone/>
            </a:pPr>
            <a:r>
              <a:rPr lang="en-GB" sz="1600" dirty="0"/>
              <a:t> </a:t>
            </a:r>
            <a:r>
              <a:rPr lang="en-GB" sz="1600" dirty="0" smtClean="0"/>
              <a:t>-</a:t>
            </a:r>
            <a:r>
              <a:rPr lang="en-GB" sz="1600" dirty="0"/>
              <a:t>Environmental factors (proximity to parks, pollution levels</a:t>
            </a:r>
            <a:r>
              <a:rPr lang="en-GB" sz="1600" dirty="0" smtClean="0"/>
              <a:t>).</a:t>
            </a:r>
          </a:p>
          <a:p>
            <a:pPr marL="0" indent="0">
              <a:buNone/>
            </a:pPr>
            <a:r>
              <a:rPr lang="en-GB" sz="1600" dirty="0"/>
              <a:t> </a:t>
            </a:r>
            <a:r>
              <a:rPr lang="en-GB" sz="1600" dirty="0" smtClean="0"/>
              <a:t>-</a:t>
            </a:r>
            <a:r>
              <a:rPr lang="en-GB" sz="1600" dirty="0"/>
              <a:t>Seasonal variations (time of year, holidays).</a:t>
            </a:r>
            <a:endParaRPr lang="en-GB" sz="1600" dirty="0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29734" y="1816609"/>
            <a:ext cx="8596668" cy="72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We consider a wide array of features that can influence house prices, including:</a:t>
            </a:r>
          </a:p>
        </p:txBody>
      </p:sp>
    </p:spTree>
    <p:extLst>
      <p:ext uri="{BB962C8B-B14F-4D97-AF65-F5344CB8AC3E}">
        <p14:creationId xmlns:p14="http://schemas.microsoft.com/office/powerpoint/2010/main" val="179509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000"/>
                            </p:stCondLst>
                            <p:childTnLst>
                              <p:par>
                                <p:cTn id="8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9704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Data Sources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5065"/>
            <a:ext cx="8596668" cy="4386298"/>
          </a:xfrm>
        </p:spPr>
        <p:txBody>
          <a:bodyPr/>
          <a:lstStyle/>
          <a:p>
            <a:r>
              <a:rPr lang="en-GB" dirty="0"/>
              <a:t>Identifying data sources that provide reliable and up-to-date information is critical. Potential sources include</a:t>
            </a:r>
            <a:r>
              <a:rPr lang="en-GB" dirty="0" smtClean="0"/>
              <a:t>: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-</a:t>
            </a:r>
            <a:r>
              <a:rPr lang="en-IN" dirty="0"/>
              <a:t>Real estate databases (MLS, Zillow, Realtor.com</a:t>
            </a:r>
            <a:r>
              <a:rPr lang="en-IN" dirty="0" smtClean="0"/>
              <a:t>).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-</a:t>
            </a:r>
            <a:r>
              <a:rPr lang="en-GB" dirty="0"/>
              <a:t>Government records (property tax data, census data</a:t>
            </a:r>
            <a:r>
              <a:rPr lang="en-GB" dirty="0" smtClean="0"/>
              <a:t>).</a:t>
            </a:r>
          </a:p>
          <a:p>
            <a:pPr marL="0" indent="0">
              <a:buNone/>
            </a:pPr>
            <a:r>
              <a:rPr lang="en-GB" dirty="0" smtClean="0"/>
              <a:t>         -</a:t>
            </a:r>
            <a:r>
              <a:rPr lang="en-GB" dirty="0"/>
              <a:t>Financial data providers (stock market data, interest rates).</a:t>
            </a:r>
          </a:p>
          <a:p>
            <a:pPr marL="0" indent="0">
              <a:buNone/>
            </a:pPr>
            <a:r>
              <a:rPr lang="en-GB" dirty="0" smtClean="0"/>
              <a:t>         -Social </a:t>
            </a:r>
            <a:r>
              <a:rPr lang="en-GB" dirty="0"/>
              <a:t>media sentiment analysis tools.</a:t>
            </a:r>
          </a:p>
          <a:p>
            <a:pPr marL="0" indent="0">
              <a:buNone/>
            </a:pPr>
            <a:r>
              <a:rPr lang="en-GB" dirty="0" smtClean="0"/>
              <a:t>         -Web </a:t>
            </a:r>
            <a:r>
              <a:rPr lang="en-GB" dirty="0"/>
              <a:t>scraping for specific property details.</a:t>
            </a:r>
          </a:p>
          <a:p>
            <a:pPr marL="0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49374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sz="8000" dirty="0" smtClean="0">
                <a:latin typeface="Algerian" panose="04020705040A02060702" pitchFamily="82" charset="0"/>
              </a:rPr>
              <a:t>PROTOTYPE</a:t>
            </a:r>
            <a:endParaRPr lang="en-IN" sz="8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47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848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Data </a:t>
            </a:r>
            <a:r>
              <a:rPr lang="en-IN" b="1" dirty="0" err="1">
                <a:solidFill>
                  <a:schemeClr val="bg1"/>
                </a:solidFill>
              </a:rPr>
              <a:t>Preprocessing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1641"/>
            <a:ext cx="8596668" cy="4224527"/>
          </a:xfrm>
        </p:spPr>
        <p:txBody>
          <a:bodyPr/>
          <a:lstStyle/>
          <a:p>
            <a:r>
              <a:rPr lang="en-GB" dirty="0"/>
              <a:t>Before feeding data into machine learning algorithms, we perform </a:t>
            </a:r>
            <a:r>
              <a:rPr lang="en-GB" dirty="0" err="1"/>
              <a:t>preprocessing</a:t>
            </a:r>
            <a:r>
              <a:rPr lang="en-GB" dirty="0"/>
              <a:t> tasks, including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r>
              <a:rPr lang="en-GB" dirty="0" smtClean="0"/>
              <a:t>         -</a:t>
            </a:r>
            <a:r>
              <a:rPr lang="en-GB" dirty="0"/>
              <a:t>Data cleaning to handle missing values and outliers.</a:t>
            </a:r>
          </a:p>
          <a:p>
            <a:pPr marL="0" indent="0">
              <a:buNone/>
            </a:pPr>
            <a:r>
              <a:rPr lang="en-GB" dirty="0" smtClean="0"/>
              <a:t>         -Feature </a:t>
            </a:r>
            <a:r>
              <a:rPr lang="en-GB" dirty="0"/>
              <a:t>selection to identify the most relevant predictors.</a:t>
            </a:r>
          </a:p>
          <a:p>
            <a:pPr marL="0" indent="0">
              <a:buNone/>
            </a:pPr>
            <a:r>
              <a:rPr lang="en-GB" dirty="0" smtClean="0"/>
              <a:t>         -Feature </a:t>
            </a:r>
            <a:r>
              <a:rPr lang="en-GB" dirty="0"/>
              <a:t>scaling and normalization for consistent scaling.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-Encoding </a:t>
            </a:r>
            <a:r>
              <a:rPr lang="en-GB" dirty="0"/>
              <a:t>categorical variables for algorithm compatibility.</a:t>
            </a:r>
          </a:p>
          <a:p>
            <a:pPr marL="0" indent="0">
              <a:buNone/>
            </a:pPr>
            <a:r>
              <a:rPr lang="en-GB" dirty="0" smtClean="0"/>
              <a:t>         -Handling </a:t>
            </a:r>
            <a:r>
              <a:rPr lang="en-GB" dirty="0"/>
              <a:t>imbalanced data if necessary.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31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000"/>
                            </p:stCondLst>
                            <p:childTnLst>
                              <p:par>
                                <p:cTn id="8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69749"/>
            <a:ext cx="8596668" cy="710411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Model Building and Training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00201"/>
            <a:ext cx="8596668" cy="1335024"/>
          </a:xfrm>
        </p:spPr>
        <p:txBody>
          <a:bodyPr/>
          <a:lstStyle/>
          <a:p>
            <a:r>
              <a:rPr lang="en-GB" dirty="0"/>
              <a:t>We build and train initial machine learning models using the </a:t>
            </a:r>
            <a:r>
              <a:rPr lang="en-GB" dirty="0" err="1"/>
              <a:t>preprocessed</a:t>
            </a:r>
            <a:r>
              <a:rPr lang="en-GB" dirty="0"/>
              <a:t> data.</a:t>
            </a:r>
          </a:p>
          <a:p>
            <a:r>
              <a:rPr lang="en-GB" dirty="0"/>
              <a:t>We may start with simple models like linear regression and gradually progress to more complex ones based on our findings.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7334" y="3255266"/>
            <a:ext cx="8596668" cy="71323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bg1"/>
                </a:solidFill>
              </a:rPr>
              <a:t>Validation and Testing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7334" y="5934459"/>
            <a:ext cx="8155770" cy="713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test set provides an unbiased evaluation of the model's predictive accuracy.</a:t>
            </a:r>
            <a:endParaRPr lang="en-GB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77334" y="4325113"/>
            <a:ext cx="8615634" cy="713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 assess model performance, we split the data into training, validation, and test sets</a:t>
            </a:r>
            <a:r>
              <a:rPr lang="en-GB" dirty="0" smtClean="0"/>
              <a:t>.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77334" y="5129786"/>
            <a:ext cx="8615634" cy="713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validation set helps us tune </a:t>
            </a:r>
            <a:r>
              <a:rPr lang="en-GB" dirty="0" err="1"/>
              <a:t>hyperparameters</a:t>
            </a:r>
            <a:r>
              <a:rPr lang="en-GB" dirty="0"/>
              <a:t> and assess model generalization.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30817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4" grpId="0" animBg="1"/>
      <p:bldP spid="5" grpId="0"/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sz="8000" dirty="0" smtClean="0">
                <a:latin typeface="Algerian" panose="04020705040A02060702" pitchFamily="82" charset="0"/>
              </a:rPr>
              <a:t>TEST</a:t>
            </a:r>
            <a:endParaRPr lang="en-IN" sz="8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55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848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Evaluating Model Performance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73937"/>
            <a:ext cx="8596668" cy="4267426"/>
          </a:xfrm>
        </p:spPr>
        <p:txBody>
          <a:bodyPr/>
          <a:lstStyle/>
          <a:p>
            <a:r>
              <a:rPr lang="en-GB" dirty="0"/>
              <a:t>The "Test" phase is where we rigorously evaluate our machine learning model's performance to ensure it meets our goals and objectives.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98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2272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Metrics for Assessment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53897"/>
            <a:ext cx="8652210" cy="804672"/>
          </a:xfrm>
        </p:spPr>
        <p:txBody>
          <a:bodyPr/>
          <a:lstStyle/>
          <a:p>
            <a:r>
              <a:rPr lang="en-GB" dirty="0"/>
              <a:t>We use specific metrics to assess the accuracy and reliability of our model's predictions. Key metrics include:</a:t>
            </a: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152144" y="2258569"/>
            <a:ext cx="8121858" cy="704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Mean Absolute Error (MAE)</a:t>
            </a:r>
            <a:r>
              <a:rPr lang="en-GB" dirty="0"/>
              <a:t>: Measures the average absolute difference between predicted and actual prices.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2144" y="2962657"/>
            <a:ext cx="8121858" cy="704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Root Mean Squared Error (RMSE)</a:t>
            </a:r>
            <a:r>
              <a:rPr lang="en-GB" dirty="0"/>
              <a:t>: Provides a measure of prediction errors' magnitude.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43000" y="3653030"/>
            <a:ext cx="8131002" cy="740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Accuracy, Precision, Recall</a:t>
            </a:r>
            <a:r>
              <a:rPr lang="en-GB" dirty="0"/>
              <a:t> (if applicable): For binary classification tasks, such as predicting if a property will sell above a certain price.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143000" y="4320540"/>
            <a:ext cx="8131002" cy="740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R-squared Score</a:t>
            </a:r>
            <a:r>
              <a:rPr lang="en-GB" dirty="0"/>
              <a:t>: Indicates the proportion of the variance in house prices explained by our model.</a:t>
            </a:r>
          </a:p>
        </p:txBody>
      </p:sp>
    </p:spTree>
    <p:extLst>
      <p:ext uri="{BB962C8B-B14F-4D97-AF65-F5344CB8AC3E}">
        <p14:creationId xmlns:p14="http://schemas.microsoft.com/office/powerpoint/2010/main" val="62241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4" grpId="0"/>
      <p:bldP spid="5" grpId="0"/>
      <p:bldP spid="6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9704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Iterative Refinement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82497"/>
            <a:ext cx="8596668" cy="4358866"/>
          </a:xfrm>
        </p:spPr>
        <p:txBody>
          <a:bodyPr/>
          <a:lstStyle/>
          <a:p>
            <a:r>
              <a:rPr lang="en-GB" dirty="0"/>
              <a:t>If our model doesn't meet the desired performance metrics, we enter an iterative refinement process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r>
              <a:rPr lang="en-GB" dirty="0" smtClean="0"/>
              <a:t>           -</a:t>
            </a:r>
            <a:r>
              <a:rPr lang="en-GB" dirty="0"/>
              <a:t>Adjust </a:t>
            </a:r>
            <a:r>
              <a:rPr lang="en-GB" dirty="0" err="1"/>
              <a:t>hyperparameters</a:t>
            </a:r>
            <a:r>
              <a:rPr lang="en-GB" dirty="0"/>
              <a:t> to find optimal settings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IN" dirty="0" smtClean="0"/>
              <a:t>           -</a:t>
            </a:r>
            <a:r>
              <a:rPr lang="en-GB" dirty="0"/>
              <a:t>Revisit feature engineering to improve predictive power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-</a:t>
            </a:r>
            <a:r>
              <a:rPr lang="en-IN" dirty="0"/>
              <a:t>Consider alternative algorithms or ensemble methods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-</a:t>
            </a:r>
            <a:r>
              <a:rPr lang="en-GB" dirty="0"/>
              <a:t>Evaluate the model's ability to handle overfitting or </a:t>
            </a:r>
            <a:r>
              <a:rPr lang="en-GB" dirty="0" err="1"/>
              <a:t>underfitting</a:t>
            </a:r>
            <a:r>
              <a:rPr lang="en-GB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23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18160"/>
            <a:ext cx="8596668" cy="670560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Visualization of Results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3968497"/>
            <a:ext cx="8596668" cy="1435608"/>
          </a:xfrm>
        </p:spPr>
        <p:txBody>
          <a:bodyPr/>
          <a:lstStyle/>
          <a:p>
            <a:r>
              <a:rPr lang="en-GB" dirty="0"/>
              <a:t>We strive for model interpretability, enabling us to explain to users why the model made specific predictions</a:t>
            </a:r>
            <a:r>
              <a:rPr lang="en-GB" dirty="0" smtClean="0"/>
              <a:t>.</a:t>
            </a:r>
          </a:p>
          <a:p>
            <a:r>
              <a:rPr lang="en-GB" dirty="0"/>
              <a:t>Techniques like feature importance scores and SHAP (</a:t>
            </a:r>
            <a:r>
              <a:rPr lang="en-GB" dirty="0" err="1"/>
              <a:t>SHapley</a:t>
            </a:r>
            <a:r>
              <a:rPr lang="en-GB" dirty="0"/>
              <a:t> Additive </a:t>
            </a:r>
            <a:r>
              <a:rPr lang="en-GB" dirty="0" err="1"/>
              <a:t>exPlanations</a:t>
            </a:r>
            <a:r>
              <a:rPr lang="en-GB" dirty="0"/>
              <a:t>) values aid in interpretation.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7334" y="3020568"/>
            <a:ext cx="8596668" cy="67056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bg1"/>
                </a:solidFill>
              </a:rPr>
              <a:t>Model Interpretability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7334" y="1524001"/>
            <a:ext cx="8596668" cy="679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Visualizations, such as scatter plots comparing predicted and actual prices, can help stakeholders understand the model's accuracy.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77334" y="2203704"/>
            <a:ext cx="8596668" cy="679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Heatmaps</a:t>
            </a:r>
            <a:r>
              <a:rPr lang="en-GB" dirty="0"/>
              <a:t> and feature importance plots provide insights into which features drive predictions.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13370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4" grpId="0" animBg="1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sz="8000" dirty="0" smtClean="0">
                <a:latin typeface="Algerian" panose="04020705040A02060702" pitchFamily="82" charset="0"/>
              </a:rPr>
              <a:t>CONCLUSION</a:t>
            </a:r>
            <a:endParaRPr lang="en-IN" sz="8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79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7992"/>
          </a:xfrm>
          <a:solidFill>
            <a:schemeClr val="accent2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Power of Accurate Predictions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82497"/>
            <a:ext cx="8596668" cy="1124711"/>
          </a:xfrm>
        </p:spPr>
        <p:txBody>
          <a:bodyPr/>
          <a:lstStyle/>
          <a:p>
            <a:r>
              <a:rPr lang="en-GB" dirty="0"/>
              <a:t>Accurate house price predictions benefit homeowners, buyers, real estate professionals, and investors by providing data-driven insights for informed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61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5424"/>
          </a:xfrm>
          <a:solidFill>
            <a:schemeClr val="accent2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Achievements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1913"/>
            <a:ext cx="8596668" cy="4459450"/>
          </a:xfrm>
        </p:spPr>
        <p:txBody>
          <a:bodyPr/>
          <a:lstStyle/>
          <a:p>
            <a:r>
              <a:rPr lang="en-GB" dirty="0"/>
              <a:t>We successfully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-Defined </a:t>
            </a:r>
            <a:r>
              <a:rPr lang="en-GB" dirty="0"/>
              <a:t>the problem and set specific goals.</a:t>
            </a:r>
          </a:p>
          <a:p>
            <a:pPr marL="0" indent="0">
              <a:buNone/>
            </a:pPr>
            <a:r>
              <a:rPr lang="en-GB" dirty="0" smtClean="0"/>
              <a:t>           -Gathered </a:t>
            </a:r>
            <a:r>
              <a:rPr lang="en-GB" dirty="0"/>
              <a:t>user insights through empathy.</a:t>
            </a:r>
          </a:p>
          <a:p>
            <a:pPr marL="0" indent="0">
              <a:buNone/>
            </a:pPr>
            <a:r>
              <a:rPr lang="en-GB" dirty="0" smtClean="0"/>
              <a:t>           -Defined </a:t>
            </a:r>
            <a:r>
              <a:rPr lang="en-GB" dirty="0"/>
              <a:t>project scope and constraints.</a:t>
            </a:r>
          </a:p>
          <a:p>
            <a:pPr marL="0" indent="0">
              <a:buNone/>
            </a:pPr>
            <a:r>
              <a:rPr lang="en-GB" dirty="0" smtClean="0"/>
              <a:t>           -Generated </a:t>
            </a:r>
            <a:r>
              <a:rPr lang="en-GB" dirty="0"/>
              <a:t>innovative ideas during the ideation phase.</a:t>
            </a:r>
          </a:p>
          <a:p>
            <a:pPr marL="0" indent="0">
              <a:buNone/>
            </a:pPr>
            <a:r>
              <a:rPr lang="en-GB" dirty="0" smtClean="0"/>
              <a:t>           -Prototyped </a:t>
            </a:r>
            <a:r>
              <a:rPr lang="en-GB" dirty="0"/>
              <a:t>machine learning models and data pipelines.</a:t>
            </a:r>
          </a:p>
          <a:p>
            <a:pPr marL="0" indent="0">
              <a:buNone/>
            </a:pPr>
            <a:r>
              <a:rPr lang="en-GB" dirty="0" smtClean="0"/>
              <a:t>           -Rigorously </a:t>
            </a:r>
            <a:r>
              <a:rPr lang="en-GB" dirty="0"/>
              <a:t>tested and iterated on our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77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000"/>
                            </p:stCondLst>
                            <p:childTnLst>
                              <p:par>
                                <p:cTn id="8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7335" y="1078993"/>
            <a:ext cx="8596668" cy="3108960"/>
          </a:xfrm>
        </p:spPr>
        <p:txBody>
          <a:bodyPr>
            <a:noAutofit/>
          </a:bodyPr>
          <a:lstStyle/>
          <a:p>
            <a:pPr algn="just"/>
            <a:r>
              <a:rPr lang="en-GB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/>
            </a:r>
            <a:br>
              <a:rPr lang="en-GB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r>
              <a:rPr lang="en-GB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/>
            </a:r>
            <a:br>
              <a:rPr lang="en-GB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r>
              <a:rPr lang="en-GB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/>
            </a:r>
            <a:br>
              <a:rPr lang="en-GB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r>
              <a:rPr lang="en-GB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/>
            </a:r>
            <a:br>
              <a:rPr lang="en-GB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r>
              <a:rPr lang="en-GB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/>
            </a:r>
            <a:br>
              <a:rPr lang="en-GB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r>
              <a:rPr lang="en-GB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/>
            </a:r>
            <a:br>
              <a:rPr lang="en-GB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r>
              <a:rPr lang="en-GB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/>
            </a:r>
            <a:br>
              <a:rPr lang="en-GB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r>
              <a:rPr lang="en-GB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/>
            </a:r>
            <a:br>
              <a:rPr lang="en-GB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r>
              <a:rPr lang="en-GB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We </a:t>
            </a:r>
            <a:r>
              <a:rPr lang="en-GB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extend our gratitude to our team, stakeholders, and the users who have been part of this journey to transform the way we approach real estate decision-making.</a:t>
            </a:r>
            <a:br>
              <a:rPr lang="en-GB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endParaRPr lang="en-IN" sz="3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96791" y="4596384"/>
            <a:ext cx="8596668" cy="72542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6000" b="1" dirty="0" smtClean="0">
                <a:solidFill>
                  <a:schemeClr val="accent2"/>
                </a:solidFill>
              </a:rPr>
              <a:t>THANK YOU !</a:t>
            </a:r>
            <a:endParaRPr lang="en-IN" sz="6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47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362</TotalTime>
  <Words>1493</Words>
  <Application>Microsoft Office PowerPoint</Application>
  <PresentationFormat>Widescreen</PresentationFormat>
  <Paragraphs>136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Algerian</vt:lpstr>
      <vt:lpstr>Arial</vt:lpstr>
      <vt:lpstr>Arial Rounded MT Bold</vt:lpstr>
      <vt:lpstr>Bell MT</vt:lpstr>
      <vt:lpstr>Bernard MT Condensed</vt:lpstr>
      <vt:lpstr>Copperplate Gothic Light</vt:lpstr>
      <vt:lpstr>Trebuchet MS</vt:lpstr>
      <vt:lpstr>Wingdings 3</vt:lpstr>
      <vt:lpstr>Facet</vt:lpstr>
      <vt:lpstr>Predicting House Prices Using Machine Learning</vt:lpstr>
      <vt:lpstr>INTRODUCTION</vt:lpstr>
      <vt:lpstr>Why is Predicting House Prices Important?</vt:lpstr>
      <vt:lpstr>The Design Thinking Approach</vt:lpstr>
      <vt:lpstr>PROBLEM DEFINITION</vt:lpstr>
      <vt:lpstr>Defining the Core Problem</vt:lpstr>
      <vt:lpstr>Impact on Real Estate Market</vt:lpstr>
      <vt:lpstr>EMPATHIZE</vt:lpstr>
      <vt:lpstr>Understanding User Needs and Pain Points</vt:lpstr>
      <vt:lpstr>Methods for Empathy</vt:lpstr>
      <vt:lpstr>Challenges and Pain Points</vt:lpstr>
      <vt:lpstr>User-Centered Approach</vt:lpstr>
      <vt:lpstr>DEFINE</vt:lpstr>
      <vt:lpstr>Defining the Scope and Constraints</vt:lpstr>
      <vt:lpstr>Property Types</vt:lpstr>
      <vt:lpstr>Documentation and Communication</vt:lpstr>
      <vt:lpstr>IDEATE</vt:lpstr>
      <vt:lpstr>Features for Predictive Model</vt:lpstr>
      <vt:lpstr>Data Sources</vt:lpstr>
      <vt:lpstr>PROTOTYPE</vt:lpstr>
      <vt:lpstr>Data Preprocessing</vt:lpstr>
      <vt:lpstr>Model Building and Training</vt:lpstr>
      <vt:lpstr>TEST</vt:lpstr>
      <vt:lpstr>Evaluating Model Performance</vt:lpstr>
      <vt:lpstr>Metrics for Assessment</vt:lpstr>
      <vt:lpstr>Iterative Refinement</vt:lpstr>
      <vt:lpstr>Visualization of Results</vt:lpstr>
      <vt:lpstr>CONCLUSION</vt:lpstr>
      <vt:lpstr>The Power of Accurate Predictions</vt:lpstr>
      <vt:lpstr>Achievements</vt:lpstr>
      <vt:lpstr>        We extend our gratitude to our team, stakeholders, and the users who have been part of this journey to transform the way we approach real estate decision-making.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House Prices Using Machine Learning</dc:title>
  <dc:creator>Kidboy_03</dc:creator>
  <cp:lastModifiedBy>Kidboy_03</cp:lastModifiedBy>
  <cp:revision>25</cp:revision>
  <dcterms:created xsi:type="dcterms:W3CDTF">2023-09-28T03:25:20Z</dcterms:created>
  <dcterms:modified xsi:type="dcterms:W3CDTF">2023-09-28T09:28:21Z</dcterms:modified>
</cp:coreProperties>
</file>