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8" r:id="rId33"/>
    <p:sldId id="289" r:id="rId34"/>
    <p:sldId id="291" r:id="rId3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546"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Title 6"/>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10/17/2023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3"/>
          </p:nvPr>
        </p:nvSpPr>
        <p:spPr>
          <a:xfrm>
            <a:off x="676655" y="2679192"/>
            <a:ext cx="3822192" cy="34472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10/17/2023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10/17/2023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1D8BD707-D9CF-40AE-B4C6-C98DA3205C09}" type="datetimeFigureOut">
              <a:rPr lang="en-US" smtClean="0"/>
              <a:pPr/>
              <a:t>10/17/2023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10/17/2023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en-US" smtClean="0"/>
              <a:t>Click to edit Master title style</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10/17/2023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1D8BD707-D9CF-40AE-B4C6-C98DA3205C09}" type="datetimeFigureOut">
              <a:rPr lang="en-US" smtClean="0"/>
              <a:pPr/>
              <a:t>10/17/2023</a:t>
            </a:fld>
            <a:endParaRPr lang="en-US"/>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en-US"/>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B6F15528-21DE-4FAA-801E-634DDDAF4B2B}" type="slidenum">
              <a:rPr lang="en-US" smtClean="0"/>
              <a:pPr/>
              <a:t>‹#›</a:t>
            </a:fld>
            <a:endParaRPr lang="en-US"/>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ctrTitle"/>
          </p:nvPr>
        </p:nvSpPr>
        <p:spPr>
          <a:xfrm>
            <a:off x="1471521" y="1066800"/>
            <a:ext cx="7180385" cy="1195754"/>
          </a:xfrm>
        </p:spPr>
        <p:txBody>
          <a:bodyPr>
            <a:normAutofit/>
          </a:bodyPr>
          <a:lstStyle/>
          <a:p>
            <a:pPr algn="l"/>
            <a:r>
              <a:rPr lang="en-GB" sz="3600" b="1" dirty="0">
                <a:latin typeface="Copperplate Gothic Light" panose="020E0507020206020404" pitchFamily="34" charset="0"/>
              </a:rPr>
              <a:t>Predicting House Prices Using Machine Learning</a:t>
            </a:r>
            <a:endParaRPr lang="en-IN" sz="3600" b="1" dirty="0"/>
          </a:p>
        </p:txBody>
      </p:sp>
      <p:sp>
        <p:nvSpPr>
          <p:cNvPr id="5" name="Subtitle 2"/>
          <p:cNvSpPr>
            <a:spLocks noGrp="1"/>
          </p:cNvSpPr>
          <p:nvPr>
            <p:ph type="subTitle" idx="1"/>
          </p:nvPr>
        </p:nvSpPr>
        <p:spPr>
          <a:xfrm>
            <a:off x="1447800" y="2438400"/>
            <a:ext cx="7048316" cy="687429"/>
          </a:xfrm>
        </p:spPr>
        <p:txBody>
          <a:bodyPr>
            <a:normAutofit/>
          </a:bodyPr>
          <a:lstStyle/>
          <a:p>
            <a:pPr algn="l"/>
            <a:r>
              <a:rPr lang="en-US" u="sng" dirty="0" smtClean="0"/>
              <a:t>Development Part 1</a:t>
            </a:r>
            <a:endParaRPr lang="en-IN" u="sng" dirty="0"/>
          </a:p>
        </p:txBody>
      </p:sp>
      <p:sp>
        <p:nvSpPr>
          <p:cNvPr id="6" name="TextBox 5"/>
          <p:cNvSpPr txBox="1"/>
          <p:nvPr/>
        </p:nvSpPr>
        <p:spPr>
          <a:xfrm>
            <a:off x="5486400" y="4038600"/>
            <a:ext cx="3352800" cy="1754326"/>
          </a:xfrm>
          <a:prstGeom prst="rect">
            <a:avLst/>
          </a:prstGeom>
          <a:noFill/>
        </p:spPr>
        <p:txBody>
          <a:bodyPr wrap="square" rtlCol="0">
            <a:spAutoFit/>
          </a:bodyPr>
          <a:lstStyle/>
          <a:p>
            <a:r>
              <a:rPr lang="en-IN" dirty="0" smtClean="0"/>
              <a:t>                </a:t>
            </a:r>
            <a:r>
              <a:rPr lang="en-IN" dirty="0" smtClean="0"/>
              <a:t> </a:t>
            </a:r>
            <a:r>
              <a:rPr lang="en-IN" dirty="0">
                <a:solidFill>
                  <a:schemeClr val="accent1"/>
                </a:solidFill>
                <a:latin typeface="Bernard MT Condensed" panose="02050806060905020404" pitchFamily="18" charset="0"/>
              </a:rPr>
              <a:t>TEAM </a:t>
            </a:r>
            <a:r>
              <a:rPr lang="en-IN" dirty="0" smtClean="0">
                <a:solidFill>
                  <a:schemeClr val="accent1"/>
                </a:solidFill>
                <a:latin typeface="Bernard MT Condensed" panose="02050806060905020404" pitchFamily="18" charset="0"/>
              </a:rPr>
              <a:t>MEMBERS</a:t>
            </a:r>
            <a:endParaRPr lang="en-IN" dirty="0">
              <a:solidFill>
                <a:schemeClr val="accent1"/>
              </a:solidFill>
              <a:latin typeface="Bernard MT Condensed" panose="02050806060905020404" pitchFamily="18" charset="0"/>
            </a:endParaRPr>
          </a:p>
          <a:p>
            <a:pPr marL="342900" indent="-342900">
              <a:buFontTx/>
              <a:buChar char="-"/>
            </a:pPr>
            <a:r>
              <a:rPr lang="en-IN" dirty="0" err="1"/>
              <a:t>Karthikeyan</a:t>
            </a:r>
            <a:r>
              <a:rPr lang="en-IN" dirty="0"/>
              <a:t> </a:t>
            </a:r>
            <a:r>
              <a:rPr lang="en-IN" dirty="0" err="1"/>
              <a:t>Arun</a:t>
            </a:r>
            <a:r>
              <a:rPr lang="en-IN" dirty="0"/>
              <a:t> Kumar(TL)</a:t>
            </a:r>
          </a:p>
          <a:p>
            <a:pPr marL="342900" indent="-342900">
              <a:buFontTx/>
              <a:buChar char="-"/>
            </a:pPr>
            <a:r>
              <a:rPr lang="en-IN" dirty="0" err="1"/>
              <a:t>Ajay.P</a:t>
            </a:r>
            <a:endParaRPr lang="en-IN" dirty="0"/>
          </a:p>
          <a:p>
            <a:pPr marL="342900" indent="-342900">
              <a:buFontTx/>
              <a:buChar char="-"/>
            </a:pPr>
            <a:r>
              <a:rPr lang="en-IN" dirty="0" err="1"/>
              <a:t>Elakiyan.S</a:t>
            </a:r>
            <a:endParaRPr lang="en-IN" dirty="0"/>
          </a:p>
          <a:p>
            <a:pPr marL="342900" indent="-342900">
              <a:buFontTx/>
              <a:buChar char="-"/>
            </a:pPr>
            <a:r>
              <a:rPr lang="en-IN" dirty="0"/>
              <a:t>Gladwin Prince</a:t>
            </a:r>
          </a:p>
          <a:p>
            <a:pPr marL="342900" indent="-342900">
              <a:buFontTx/>
              <a:buChar char="-"/>
            </a:pPr>
            <a:r>
              <a:rPr lang="en-IN" dirty="0" err="1"/>
              <a:t>Ajith.P</a:t>
            </a:r>
            <a:endParaRPr lang="en-IN" dirty="0"/>
          </a:p>
        </p:txBody>
      </p:sp>
    </p:spTree>
    <p:extLst>
      <p:ext uri="{BB962C8B-B14F-4D97-AF65-F5344CB8AC3E}">
        <p14:creationId xmlns:p14="http://schemas.microsoft.com/office/powerpoint/2010/main" val="24758518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IN" dirty="0"/>
              <a:t>In the world of project management, establishing a strong foundation is akin to setting a course for success</a:t>
            </a:r>
            <a:r>
              <a:rPr lang="en-IN" dirty="0" smtClean="0"/>
              <a:t>.</a:t>
            </a:r>
          </a:p>
          <a:p>
            <a:r>
              <a:rPr lang="en-IN" dirty="0"/>
              <a:t>It's during this initial development phase that we define our purpose, plan our journey, and put the key elements in place.</a:t>
            </a:r>
            <a:endParaRPr lang="en-IN" dirty="0"/>
          </a:p>
        </p:txBody>
      </p:sp>
      <p:sp>
        <p:nvSpPr>
          <p:cNvPr id="3" name="Title 2"/>
          <p:cNvSpPr>
            <a:spLocks noGrp="1"/>
          </p:cNvSpPr>
          <p:nvPr>
            <p:ph type="title"/>
          </p:nvPr>
        </p:nvSpPr>
        <p:spPr/>
        <p:txBody>
          <a:bodyPr>
            <a:normAutofit fontScale="90000"/>
          </a:bodyPr>
          <a:lstStyle/>
          <a:p>
            <a:r>
              <a:rPr lang="en-IN" dirty="0" smtClean="0"/>
              <a:t>"</a:t>
            </a:r>
            <a:r>
              <a:rPr lang="en-IN" dirty="0"/>
              <a:t>Setting the Stage for Success: The Initial Development Phase</a:t>
            </a:r>
            <a:r>
              <a:rPr lang="en-IN" dirty="0" smtClean="0"/>
              <a:t>"</a:t>
            </a:r>
            <a:endParaRPr lang="en-IN" dirty="0"/>
          </a:p>
        </p:txBody>
      </p:sp>
    </p:spTree>
    <p:extLst>
      <p:ext uri="{BB962C8B-B14F-4D97-AF65-F5344CB8AC3E}">
        <p14:creationId xmlns:p14="http://schemas.microsoft.com/office/powerpoint/2010/main" val="36433046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ctrTitle"/>
          </p:nvPr>
        </p:nvSpPr>
        <p:spPr>
          <a:xfrm>
            <a:off x="685800" y="1600200"/>
            <a:ext cx="7772400" cy="2133600"/>
          </a:xfrm>
        </p:spPr>
        <p:txBody>
          <a:bodyPr>
            <a:normAutofit/>
          </a:bodyPr>
          <a:lstStyle/>
          <a:p>
            <a:r>
              <a:rPr lang="en-US" sz="6000" b="1" dirty="0" smtClean="0">
                <a:solidFill>
                  <a:schemeClr val="bg1"/>
                </a:solidFill>
                <a:latin typeface="Bradley Hand ITC" pitchFamily="66" charset="0"/>
              </a:rPr>
              <a:t>INTRODUCTION</a:t>
            </a:r>
            <a:endParaRPr lang="en-IN" sz="6000" b="1" dirty="0">
              <a:solidFill>
                <a:schemeClr val="bg1"/>
              </a:solidFill>
              <a:latin typeface="Bradley Hand ITC" pitchFamily="66" charset="0"/>
            </a:endParaRPr>
          </a:p>
        </p:txBody>
      </p:sp>
    </p:spTree>
    <p:extLst>
      <p:ext uri="{BB962C8B-B14F-4D97-AF65-F5344CB8AC3E}">
        <p14:creationId xmlns:p14="http://schemas.microsoft.com/office/powerpoint/2010/main" val="9730724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IN" dirty="0"/>
              <a:t>Project Definition: Laying the Cornerstone</a:t>
            </a:r>
            <a:endParaRPr lang="en-IN" dirty="0"/>
          </a:p>
        </p:txBody>
      </p:sp>
      <p:sp>
        <p:nvSpPr>
          <p:cNvPr id="4" name="Content Placeholder 3"/>
          <p:cNvSpPr>
            <a:spLocks noGrp="1"/>
          </p:cNvSpPr>
          <p:nvPr>
            <p:ph idx="1"/>
          </p:nvPr>
        </p:nvSpPr>
        <p:spPr>
          <a:xfrm>
            <a:off x="838200" y="2209800"/>
            <a:ext cx="7408333" cy="4114800"/>
          </a:xfrm>
        </p:spPr>
        <p:txBody>
          <a:bodyPr/>
          <a:lstStyle/>
          <a:p>
            <a:pPr marL="0" indent="0">
              <a:buNone/>
            </a:pPr>
            <a:r>
              <a:rPr lang="en-IN" dirty="0"/>
              <a:t>Clarifying Purpose and </a:t>
            </a:r>
            <a:r>
              <a:rPr lang="en-IN" dirty="0" smtClean="0"/>
              <a:t>Objectives</a:t>
            </a:r>
          </a:p>
          <a:p>
            <a:r>
              <a:rPr lang="en-IN" sz="1800" dirty="0"/>
              <a:t>At the heart of successful project development lies a clear and unambiguous definition. This is where we lay the cornerstone for the entire </a:t>
            </a:r>
            <a:r>
              <a:rPr lang="en-IN" sz="1800" dirty="0" err="1"/>
              <a:t>endeavor</a:t>
            </a:r>
            <a:r>
              <a:rPr lang="en-IN" dirty="0" smtClean="0"/>
              <a:t>.</a:t>
            </a:r>
          </a:p>
          <a:p>
            <a:r>
              <a:rPr lang="en-IN" sz="2000" b="1" dirty="0"/>
              <a:t>Defining the Project:</a:t>
            </a:r>
            <a:r>
              <a:rPr lang="en-IN" sz="2000" dirty="0"/>
              <a:t> Project definition involves clarifying the project's purpose, objectives, and scope. It answers the fundamental questions of "What are we trying to achieve?" and "Why is it important</a:t>
            </a:r>
            <a:r>
              <a:rPr lang="en-IN" sz="2000" dirty="0" smtClean="0"/>
              <a:t>?“</a:t>
            </a:r>
          </a:p>
          <a:p>
            <a:r>
              <a:rPr lang="en-IN" sz="2000" b="1" dirty="0"/>
              <a:t>Impact on Stakeholders:</a:t>
            </a:r>
            <a:r>
              <a:rPr lang="en-IN" sz="2000" dirty="0"/>
              <a:t> Clear project definition resonates with stakeholders, helping them understand the project's purpose and aligning their expectations with the intended outcomes.</a:t>
            </a:r>
            <a:endParaRPr lang="en-IN" sz="2000" dirty="0"/>
          </a:p>
        </p:txBody>
      </p:sp>
    </p:spTree>
    <p:extLst>
      <p:ext uri="{BB962C8B-B14F-4D97-AF65-F5344CB8AC3E}">
        <p14:creationId xmlns:p14="http://schemas.microsoft.com/office/powerpoint/2010/main" val="3797134006"/>
      </p:ext>
    </p:extLst>
  </p:cSld>
  <p:clrMapOvr>
    <a:masterClrMapping/>
  </p:clrMapOvr>
  <mc:AlternateContent xmlns:mc="http://schemas.openxmlformats.org/markup-compatibility/2006">
    <mc:Choice xmlns:p14="http://schemas.microsoft.com/office/powerpoint/2010/main" Requires="p14">
      <p:transition spd="slow" p14:dur="2000" advClick="0"/>
    </mc:Choice>
    <mc:Fallback>
      <p:transition spd="slow" advClick="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4"/>
          <p:cNvSpPr>
            <a:spLocks noGrp="1"/>
          </p:cNvSpPr>
          <p:nvPr>
            <p:ph type="ctrTitle"/>
          </p:nvPr>
        </p:nvSpPr>
        <p:spPr>
          <a:xfrm>
            <a:off x="685800" y="2057400"/>
            <a:ext cx="7772400" cy="1780108"/>
          </a:xfrm>
        </p:spPr>
        <p:txBody>
          <a:bodyPr>
            <a:normAutofit/>
          </a:bodyPr>
          <a:lstStyle/>
          <a:p>
            <a:r>
              <a:rPr lang="en-IN" sz="6000" b="1" dirty="0">
                <a:latin typeface="Bradley Hand ITC" pitchFamily="66" charset="0"/>
              </a:rPr>
              <a:t>Stakeholder </a:t>
            </a:r>
            <a:r>
              <a:rPr lang="en-IN" sz="6000" b="1" dirty="0" smtClean="0">
                <a:latin typeface="Bradley Hand ITC" pitchFamily="66" charset="0"/>
              </a:rPr>
              <a:t>Analysis</a:t>
            </a:r>
            <a:endParaRPr lang="en-IN" sz="6000" dirty="0">
              <a:latin typeface="Bradley Hand ITC" pitchFamily="66" charset="0"/>
            </a:endParaRPr>
          </a:p>
        </p:txBody>
      </p:sp>
    </p:spTree>
    <p:extLst>
      <p:ext uri="{BB962C8B-B14F-4D97-AF65-F5344CB8AC3E}">
        <p14:creationId xmlns:p14="http://schemas.microsoft.com/office/powerpoint/2010/main" val="3086551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72067" y="2362200"/>
            <a:ext cx="7408333" cy="3763963"/>
          </a:xfrm>
        </p:spPr>
        <p:txBody>
          <a:bodyPr>
            <a:normAutofit/>
          </a:bodyPr>
          <a:lstStyle/>
          <a:p>
            <a:pPr marL="0" indent="0">
              <a:buNone/>
            </a:pPr>
            <a:r>
              <a:rPr lang="en-IN" dirty="0"/>
              <a:t>In the intricate tapestry of project development, stakeholders play a pivotal role. This phase is dedicated to understanding them.</a:t>
            </a:r>
            <a:endParaRPr lang="en-US" dirty="0" smtClean="0"/>
          </a:p>
          <a:p>
            <a:r>
              <a:rPr lang="en-IN" sz="2000" b="1" dirty="0"/>
              <a:t>Who Are Stakeholders?</a:t>
            </a:r>
            <a:r>
              <a:rPr lang="en-IN" sz="2000" dirty="0"/>
              <a:t> Stakeholders are individuals, groups, or organizations with a vested interest in the project's success. They can be internal (team members) or external (clients, users, regulators, etc</a:t>
            </a:r>
            <a:r>
              <a:rPr lang="en-IN" sz="2000" dirty="0" smtClean="0"/>
              <a:t>.).</a:t>
            </a:r>
          </a:p>
          <a:p>
            <a:r>
              <a:rPr lang="en-IN" sz="2000" b="1" dirty="0" err="1"/>
              <a:t>Analyzing</a:t>
            </a:r>
            <a:r>
              <a:rPr lang="en-IN" sz="2000" b="1" dirty="0"/>
              <a:t> Stakeholder Roles:</a:t>
            </a:r>
            <a:r>
              <a:rPr lang="en-IN" sz="2000" dirty="0"/>
              <a:t> Stakeholder analysis involves identifying who they are, what interests they hold, and what their expectations are. By doing so, we can align project goals with stakeholder needs.</a:t>
            </a:r>
            <a:endParaRPr lang="en-US" sz="2000" dirty="0" smtClean="0"/>
          </a:p>
        </p:txBody>
      </p:sp>
      <p:sp>
        <p:nvSpPr>
          <p:cNvPr id="3" name="Title 2"/>
          <p:cNvSpPr>
            <a:spLocks noGrp="1"/>
          </p:cNvSpPr>
          <p:nvPr>
            <p:ph type="title"/>
          </p:nvPr>
        </p:nvSpPr>
        <p:spPr/>
        <p:txBody>
          <a:bodyPr>
            <a:normAutofit fontScale="90000"/>
          </a:bodyPr>
          <a:lstStyle/>
          <a:p>
            <a:r>
              <a:rPr lang="en-IN" dirty="0"/>
              <a:t>Stakeholder Analysis: Understanding Key Players</a:t>
            </a:r>
            <a:endParaRPr lang="en-IN" dirty="0"/>
          </a:p>
        </p:txBody>
      </p:sp>
    </p:spTree>
    <p:extLst>
      <p:ext uri="{BB962C8B-B14F-4D97-AF65-F5344CB8AC3E}">
        <p14:creationId xmlns:p14="http://schemas.microsoft.com/office/powerpoint/2010/main" val="29107984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a:bodyPr>
          <a:lstStyle/>
          <a:p>
            <a:r>
              <a:rPr lang="en-IN" b="1" dirty="0"/>
              <a:t>Key Objectives</a:t>
            </a:r>
            <a:r>
              <a:rPr lang="en-IN" b="1" dirty="0" smtClean="0"/>
              <a:t>:</a:t>
            </a:r>
            <a:endParaRPr lang="en-IN" dirty="0"/>
          </a:p>
        </p:txBody>
      </p:sp>
      <p:sp>
        <p:nvSpPr>
          <p:cNvPr id="2" name="Content Placeholder 1"/>
          <p:cNvSpPr>
            <a:spLocks noGrp="1"/>
          </p:cNvSpPr>
          <p:nvPr>
            <p:ph sz="quarter" idx="13"/>
          </p:nvPr>
        </p:nvSpPr>
        <p:spPr/>
        <p:txBody>
          <a:bodyPr>
            <a:normAutofit fontScale="85000" lnSpcReduction="10000"/>
          </a:bodyPr>
          <a:lstStyle/>
          <a:p>
            <a:r>
              <a:rPr lang="en-IN" dirty="0" smtClean="0"/>
              <a:t>Gain </a:t>
            </a:r>
            <a:r>
              <a:rPr lang="en-IN" dirty="0"/>
              <a:t>an understanding of each stakeholder's influence on the project.</a:t>
            </a:r>
          </a:p>
          <a:p>
            <a:r>
              <a:rPr lang="en-IN" dirty="0"/>
              <a:t>Identify potential conflicts or points of alignment.</a:t>
            </a:r>
          </a:p>
          <a:p>
            <a:r>
              <a:rPr lang="en-IN" dirty="0"/>
              <a:t>Establish clear communication channels and expectations.</a:t>
            </a:r>
          </a:p>
          <a:p>
            <a:r>
              <a:rPr lang="en-IN" dirty="0"/>
              <a:t>Ensure that stakeholders' voices are heard and incorporated into the project.</a:t>
            </a:r>
          </a:p>
          <a:p>
            <a:endParaRPr lang="en-IN" dirty="0"/>
          </a:p>
        </p:txBody>
      </p:sp>
      <p:pic>
        <p:nvPicPr>
          <p:cNvPr id="8" name="Content Placeholder 7"/>
          <p:cNvPicPr>
            <a:picLocks noGrp="1" noChangeAspect="1"/>
          </p:cNvPicPr>
          <p:nvPr>
            <p:ph sz="quarter" idx="14"/>
          </p:nvPr>
        </p:nvPicPr>
        <p:blipFill rotWithShape="1">
          <a:blip r:embed="rId2">
            <a:extLst>
              <a:ext uri="{28A0092B-C50C-407E-A947-70E740481C1C}">
                <a14:useLocalDpi xmlns:a14="http://schemas.microsoft.com/office/drawing/2010/main" val="0"/>
              </a:ext>
            </a:extLst>
          </a:blip>
          <a:srcRect t="12672" b="24794"/>
          <a:stretch/>
        </p:blipFill>
        <p:spPr>
          <a:xfrm>
            <a:off x="4876800" y="3276600"/>
            <a:ext cx="3822700" cy="1572490"/>
          </a:xfrm>
        </p:spPr>
      </p:pic>
    </p:spTree>
    <p:extLst>
      <p:ext uri="{BB962C8B-B14F-4D97-AF65-F5344CB8AC3E}">
        <p14:creationId xmlns:p14="http://schemas.microsoft.com/office/powerpoint/2010/main" val="33278795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671945" y="1835728"/>
            <a:ext cx="7772400" cy="1780108"/>
          </a:xfrm>
        </p:spPr>
        <p:txBody>
          <a:bodyPr>
            <a:normAutofit/>
          </a:bodyPr>
          <a:lstStyle/>
          <a:p>
            <a:r>
              <a:rPr lang="en-IN" sz="6000" b="1" dirty="0">
                <a:latin typeface="Bradley Hand ITC" pitchFamily="66" charset="0"/>
              </a:rPr>
              <a:t>Scope Definition</a:t>
            </a:r>
            <a:endParaRPr lang="en-IN" sz="6000" dirty="0">
              <a:latin typeface="Bradley Hand ITC" pitchFamily="66" charset="0"/>
            </a:endParaRPr>
          </a:p>
        </p:txBody>
      </p:sp>
    </p:spTree>
    <p:extLst>
      <p:ext uri="{BB962C8B-B14F-4D97-AF65-F5344CB8AC3E}">
        <p14:creationId xmlns:p14="http://schemas.microsoft.com/office/powerpoint/2010/main" val="23846425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990600" y="2209800"/>
            <a:ext cx="7408333" cy="4144963"/>
          </a:xfrm>
        </p:spPr>
        <p:txBody>
          <a:bodyPr>
            <a:normAutofit fontScale="92500" lnSpcReduction="10000"/>
          </a:bodyPr>
          <a:lstStyle/>
          <a:p>
            <a:pPr marL="0" indent="0">
              <a:buNone/>
            </a:pPr>
            <a:r>
              <a:rPr lang="en-IN" dirty="0"/>
              <a:t>When it comes to project development, understanding the scope is akin to drawing a map. It tells us where we're headed and what lies along the journey.</a:t>
            </a:r>
          </a:p>
          <a:p>
            <a:r>
              <a:rPr lang="en-IN" b="1" dirty="0"/>
              <a:t>Defining the Project Scope:</a:t>
            </a:r>
            <a:r>
              <a:rPr lang="en-IN" dirty="0"/>
              <a:t> Scope definition involves clearly outlining what the project encompasses and, equally important, what it does not. This is where we establish boundaries for the project.</a:t>
            </a:r>
          </a:p>
          <a:p>
            <a:r>
              <a:rPr lang="en-IN" b="1" dirty="0"/>
              <a:t>Clarity and Focus:</a:t>
            </a:r>
            <a:r>
              <a:rPr lang="en-IN" dirty="0"/>
              <a:t> A well-defined scope brings clarity and focus to the project, helping team members and stakeholders understand the project's limits. This clarity is vital to prevent scope creep, which can lead to delays and increased costs.</a:t>
            </a:r>
          </a:p>
          <a:p>
            <a:endParaRPr lang="en-IN" dirty="0"/>
          </a:p>
        </p:txBody>
      </p:sp>
      <p:sp>
        <p:nvSpPr>
          <p:cNvPr id="3" name="Title 2"/>
          <p:cNvSpPr>
            <a:spLocks noGrp="1"/>
          </p:cNvSpPr>
          <p:nvPr>
            <p:ph type="title"/>
          </p:nvPr>
        </p:nvSpPr>
        <p:spPr/>
        <p:txBody>
          <a:bodyPr>
            <a:normAutofit fontScale="90000"/>
          </a:bodyPr>
          <a:lstStyle/>
          <a:p>
            <a:r>
              <a:rPr lang="en-IN" dirty="0"/>
              <a:t>"Scope Definition: Setting Boundaries for Success"</a:t>
            </a:r>
            <a:endParaRPr lang="en-IN" dirty="0"/>
          </a:p>
        </p:txBody>
      </p:sp>
    </p:spTree>
    <p:extLst>
      <p:ext uri="{BB962C8B-B14F-4D97-AF65-F5344CB8AC3E}">
        <p14:creationId xmlns:p14="http://schemas.microsoft.com/office/powerpoint/2010/main" val="42801183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b="1" dirty="0"/>
              <a:t>Scope Components</a:t>
            </a:r>
            <a:endParaRPr lang="en-IN" dirty="0"/>
          </a:p>
        </p:txBody>
      </p:sp>
      <p:sp>
        <p:nvSpPr>
          <p:cNvPr id="4" name="Content Placeholder 3"/>
          <p:cNvSpPr>
            <a:spLocks noGrp="1"/>
          </p:cNvSpPr>
          <p:nvPr>
            <p:ph sz="quarter" idx="13"/>
          </p:nvPr>
        </p:nvSpPr>
        <p:spPr>
          <a:xfrm>
            <a:off x="676655" y="2679192"/>
            <a:ext cx="3822192" cy="3416808"/>
          </a:xfrm>
        </p:spPr>
        <p:txBody>
          <a:bodyPr>
            <a:normAutofit fontScale="92500" lnSpcReduction="20000"/>
          </a:bodyPr>
          <a:lstStyle/>
          <a:p>
            <a:pPr marL="0" indent="0">
              <a:buNone/>
            </a:pPr>
            <a:r>
              <a:rPr lang="en-IN" dirty="0"/>
              <a:t>The project scope typically includes:</a:t>
            </a:r>
          </a:p>
          <a:p>
            <a:r>
              <a:rPr lang="en-IN" dirty="0"/>
              <a:t>Project objectives and deliverables</a:t>
            </a:r>
          </a:p>
          <a:p>
            <a:r>
              <a:rPr lang="en-IN" dirty="0"/>
              <a:t>Key milestones and timeline</a:t>
            </a:r>
          </a:p>
          <a:p>
            <a:r>
              <a:rPr lang="en-IN" dirty="0"/>
              <a:t>Resources and budget</a:t>
            </a:r>
          </a:p>
          <a:p>
            <a:r>
              <a:rPr lang="en-IN" dirty="0"/>
              <a:t>Constraints and assumptions</a:t>
            </a:r>
          </a:p>
          <a:p>
            <a:r>
              <a:rPr lang="en-IN" dirty="0"/>
              <a:t>Stakeholder roles and responsibilities</a:t>
            </a:r>
          </a:p>
          <a:p>
            <a:endParaRPr lang="en-IN" dirty="0"/>
          </a:p>
        </p:txBody>
      </p:sp>
      <p:pic>
        <p:nvPicPr>
          <p:cNvPr id="8" name="Content Placeholder 7"/>
          <p:cNvPicPr>
            <a:picLocks noGrp="1" noChangeAspect="1"/>
          </p:cNvPicPr>
          <p:nvPr>
            <p:ph sz="quarter" idx="14"/>
          </p:nvPr>
        </p:nvPicPr>
        <p:blipFill>
          <a:blip r:embed="rId2" cstate="print">
            <a:extLst>
              <a:ext uri="{28A0092B-C50C-407E-A947-70E740481C1C}">
                <a14:useLocalDpi xmlns:a14="http://schemas.microsoft.com/office/drawing/2010/main" val="0"/>
              </a:ext>
            </a:extLst>
          </a:blip>
          <a:stretch>
            <a:fillRect/>
          </a:stretch>
        </p:blipFill>
        <p:spPr>
          <a:xfrm>
            <a:off x="4648200" y="3124200"/>
            <a:ext cx="3822700" cy="2133600"/>
          </a:xfrm>
        </p:spPr>
      </p:pic>
    </p:spTree>
    <p:extLst>
      <p:ext uri="{BB962C8B-B14F-4D97-AF65-F5344CB8AC3E}">
        <p14:creationId xmlns:p14="http://schemas.microsoft.com/office/powerpoint/2010/main" val="40417561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5"/>
          <p:cNvSpPr>
            <a:spLocks noGrp="1"/>
          </p:cNvSpPr>
          <p:nvPr>
            <p:ph type="ctrTitle"/>
          </p:nvPr>
        </p:nvSpPr>
        <p:spPr>
          <a:xfrm>
            <a:off x="685800" y="1905000"/>
            <a:ext cx="7772400" cy="1780108"/>
          </a:xfrm>
        </p:spPr>
        <p:txBody>
          <a:bodyPr>
            <a:normAutofit/>
          </a:bodyPr>
          <a:lstStyle/>
          <a:p>
            <a:r>
              <a:rPr lang="en-IN" sz="6000" b="1" dirty="0">
                <a:latin typeface="Bradley Hand ITC" pitchFamily="66" charset="0"/>
              </a:rPr>
              <a:t>Project Planning</a:t>
            </a:r>
            <a:endParaRPr lang="en-IN" sz="6000" dirty="0">
              <a:latin typeface="Bradley Hand ITC" pitchFamily="66" charset="0"/>
            </a:endParaRPr>
          </a:p>
        </p:txBody>
      </p:sp>
    </p:spTree>
    <p:extLst>
      <p:ext uri="{BB962C8B-B14F-4D97-AF65-F5344CB8AC3E}">
        <p14:creationId xmlns:p14="http://schemas.microsoft.com/office/powerpoint/2010/main" val="11079094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buNone/>
            </a:pPr>
            <a:r>
              <a:rPr lang="en-IN" dirty="0"/>
              <a:t>A project's journey is only as good as its plan. This is where we roll up our sleeves and start charting the course for success.</a:t>
            </a:r>
          </a:p>
          <a:p>
            <a:r>
              <a:rPr lang="en-IN" b="1" dirty="0"/>
              <a:t>Defining Project Planning:</a:t>
            </a:r>
            <a:r>
              <a:rPr lang="en-IN" dirty="0"/>
              <a:t> Project planning is the process of identifying, defining, and organizing the tasks, resources, and timeline needed to achieve project objectives.</a:t>
            </a:r>
          </a:p>
          <a:p>
            <a:endParaRPr lang="en-IN" dirty="0"/>
          </a:p>
        </p:txBody>
      </p:sp>
      <p:sp>
        <p:nvSpPr>
          <p:cNvPr id="3" name="Title 2"/>
          <p:cNvSpPr>
            <a:spLocks noGrp="1"/>
          </p:cNvSpPr>
          <p:nvPr>
            <p:ph type="title"/>
          </p:nvPr>
        </p:nvSpPr>
        <p:spPr/>
        <p:txBody>
          <a:bodyPr>
            <a:normAutofit fontScale="90000"/>
          </a:bodyPr>
          <a:lstStyle/>
          <a:p>
            <a:r>
              <a:rPr lang="en-IN" dirty="0"/>
              <a:t>Project Planning: Charting the Course</a:t>
            </a:r>
            <a:endParaRPr lang="en-IN" dirty="0"/>
          </a:p>
        </p:txBody>
      </p:sp>
    </p:spTree>
    <p:extLst>
      <p:ext uri="{BB962C8B-B14F-4D97-AF65-F5344CB8AC3E}">
        <p14:creationId xmlns:p14="http://schemas.microsoft.com/office/powerpoint/2010/main" val="39414559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Content Placeholder 14"/>
          <p:cNvSpPr>
            <a:spLocks noGrp="1"/>
          </p:cNvSpPr>
          <p:nvPr>
            <p:ph idx="1"/>
          </p:nvPr>
        </p:nvSpPr>
        <p:spPr>
          <a:xfrm>
            <a:off x="838200" y="2286000"/>
            <a:ext cx="7408333" cy="3916363"/>
          </a:xfrm>
        </p:spPr>
        <p:txBody>
          <a:bodyPr>
            <a:normAutofit fontScale="85000" lnSpcReduction="10000"/>
          </a:bodyPr>
          <a:lstStyle/>
          <a:p>
            <a:r>
              <a:rPr lang="en-IN" b="1" dirty="0"/>
              <a:t>Task Breakdown:</a:t>
            </a:r>
            <a:r>
              <a:rPr lang="en-IN" dirty="0"/>
              <a:t> Break down the project into manageable tasks, creating a roadmap for progress.</a:t>
            </a:r>
          </a:p>
          <a:p>
            <a:r>
              <a:rPr lang="en-IN" b="1" dirty="0"/>
              <a:t>Timelines:</a:t>
            </a:r>
            <a:r>
              <a:rPr lang="en-IN" dirty="0"/>
              <a:t> Establish clear timelines and deadlines for each task to ensure project progress remains on schedule.</a:t>
            </a:r>
          </a:p>
          <a:p>
            <a:r>
              <a:rPr lang="en-IN" b="1" dirty="0"/>
              <a:t>Resource Allocation:</a:t>
            </a:r>
            <a:r>
              <a:rPr lang="en-IN" dirty="0"/>
              <a:t> Allocate necessary resources, including people, technology, and budget, to support task completion.</a:t>
            </a:r>
          </a:p>
          <a:p>
            <a:r>
              <a:rPr lang="en-IN" b="1" dirty="0"/>
              <a:t>Risk Assessment:</a:t>
            </a:r>
            <a:r>
              <a:rPr lang="en-IN" dirty="0"/>
              <a:t> Identify potential risks and develop strategies to mitigate or respond to them.</a:t>
            </a:r>
          </a:p>
          <a:p>
            <a:r>
              <a:rPr lang="en-IN" b="1" dirty="0"/>
              <a:t>Quality Control:</a:t>
            </a:r>
            <a:r>
              <a:rPr lang="en-IN" dirty="0"/>
              <a:t> Detail quality control processes to maintain project integrity.</a:t>
            </a:r>
          </a:p>
          <a:p>
            <a:r>
              <a:rPr lang="en-IN" b="1" dirty="0"/>
              <a:t>Communication Plan:</a:t>
            </a:r>
            <a:r>
              <a:rPr lang="en-IN" dirty="0"/>
              <a:t> Develop a plan for effective communication within the project team and with stakeholders.</a:t>
            </a:r>
          </a:p>
          <a:p>
            <a:endParaRPr lang="en-IN" dirty="0"/>
          </a:p>
        </p:txBody>
      </p:sp>
      <p:sp>
        <p:nvSpPr>
          <p:cNvPr id="12" name="Title 11"/>
          <p:cNvSpPr>
            <a:spLocks noGrp="1"/>
          </p:cNvSpPr>
          <p:nvPr>
            <p:ph type="title"/>
          </p:nvPr>
        </p:nvSpPr>
        <p:spPr>
          <a:xfrm>
            <a:off x="457200" y="457200"/>
            <a:ext cx="8229600" cy="1252728"/>
          </a:xfrm>
        </p:spPr>
        <p:txBody>
          <a:bodyPr/>
          <a:lstStyle/>
          <a:p>
            <a:r>
              <a:rPr lang="en-IN" b="1" dirty="0"/>
              <a:t>Key Elements:</a:t>
            </a:r>
            <a:endParaRPr lang="en-IN" dirty="0"/>
          </a:p>
        </p:txBody>
      </p:sp>
    </p:spTree>
    <p:extLst>
      <p:ext uri="{BB962C8B-B14F-4D97-AF65-F5344CB8AC3E}">
        <p14:creationId xmlns:p14="http://schemas.microsoft.com/office/powerpoint/2010/main" val="29955509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4"/>
          <p:cNvSpPr>
            <a:spLocks noGrp="1"/>
          </p:cNvSpPr>
          <p:nvPr>
            <p:ph type="ctrTitle"/>
          </p:nvPr>
        </p:nvSpPr>
        <p:spPr>
          <a:xfrm>
            <a:off x="685800" y="1752600"/>
            <a:ext cx="7772400" cy="1780108"/>
          </a:xfrm>
        </p:spPr>
        <p:txBody>
          <a:bodyPr>
            <a:normAutofit/>
          </a:bodyPr>
          <a:lstStyle/>
          <a:p>
            <a:r>
              <a:rPr lang="en-IN" sz="6000" b="1" dirty="0">
                <a:latin typeface="Bradley Hand ITC" pitchFamily="66" charset="0"/>
              </a:rPr>
              <a:t>Resource Allocation</a:t>
            </a:r>
            <a:endParaRPr lang="en-IN" sz="6000" dirty="0">
              <a:latin typeface="Bradley Hand ITC" pitchFamily="66" charset="0"/>
            </a:endParaRPr>
          </a:p>
        </p:txBody>
      </p:sp>
    </p:spTree>
    <p:extLst>
      <p:ext uri="{BB962C8B-B14F-4D97-AF65-F5344CB8AC3E}">
        <p14:creationId xmlns:p14="http://schemas.microsoft.com/office/powerpoint/2010/main" val="9189782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914400" y="2514600"/>
            <a:ext cx="7408333" cy="3810000"/>
          </a:xfrm>
        </p:spPr>
        <p:txBody>
          <a:bodyPr>
            <a:normAutofit fontScale="85000" lnSpcReduction="10000"/>
          </a:bodyPr>
          <a:lstStyle/>
          <a:p>
            <a:pPr marL="0" indent="0">
              <a:buNone/>
            </a:pPr>
            <a:r>
              <a:rPr lang="en-IN" dirty="0"/>
              <a:t>A project without the right resources is like a ship without a rudder. In this phase, we ensure that we have the necessary pieces in place for a smooth journey.</a:t>
            </a:r>
          </a:p>
          <a:p>
            <a:r>
              <a:rPr lang="en-IN" b="1" dirty="0"/>
              <a:t>Resource Allocation Defined:</a:t>
            </a:r>
            <a:r>
              <a:rPr lang="en-IN" dirty="0"/>
              <a:t> Resource allocation is the process of assigning and managing the people, technology, and budget needed to support the project's tasks and objectives</a:t>
            </a:r>
            <a:r>
              <a:rPr lang="en-IN" dirty="0" smtClean="0"/>
              <a:t>.</a:t>
            </a:r>
          </a:p>
          <a:p>
            <a:r>
              <a:rPr lang="en-IN" b="1" dirty="0"/>
              <a:t>Efficiency and Timeliness:</a:t>
            </a:r>
            <a:r>
              <a:rPr lang="en-IN" dirty="0"/>
              <a:t> Effective resource allocation ensures that the right resources are available at the right time, reducing delays and optimizing project efficiency.</a:t>
            </a:r>
          </a:p>
          <a:p>
            <a:r>
              <a:rPr lang="en-IN" b="1" dirty="0"/>
              <a:t>Role of Project Manager:</a:t>
            </a:r>
            <a:r>
              <a:rPr lang="en-IN" dirty="0"/>
              <a:t> The project manager plays a pivotal role in resource allocation, coordinating team members, technology, and budget to meet project requirements.</a:t>
            </a:r>
          </a:p>
          <a:p>
            <a:endParaRPr lang="en-IN" dirty="0"/>
          </a:p>
          <a:p>
            <a:endParaRPr lang="en-IN" dirty="0"/>
          </a:p>
        </p:txBody>
      </p:sp>
      <p:sp>
        <p:nvSpPr>
          <p:cNvPr id="3" name="Title 2"/>
          <p:cNvSpPr>
            <a:spLocks noGrp="1"/>
          </p:cNvSpPr>
          <p:nvPr>
            <p:ph type="title"/>
          </p:nvPr>
        </p:nvSpPr>
        <p:spPr/>
        <p:txBody>
          <a:bodyPr>
            <a:normAutofit fontScale="90000"/>
          </a:bodyPr>
          <a:lstStyle/>
          <a:p>
            <a:r>
              <a:rPr lang="en-IN" dirty="0"/>
              <a:t>Resource Allocation: Putting the Right Pieces in Place</a:t>
            </a:r>
            <a:endParaRPr lang="en-IN" dirty="0"/>
          </a:p>
        </p:txBody>
      </p:sp>
    </p:spTree>
    <p:extLst>
      <p:ext uri="{BB962C8B-B14F-4D97-AF65-F5344CB8AC3E}">
        <p14:creationId xmlns:p14="http://schemas.microsoft.com/office/powerpoint/2010/main" val="2461006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4294967295"/>
          </p:nvPr>
        </p:nvSpPr>
        <p:spPr>
          <a:xfrm>
            <a:off x="457200" y="1828800"/>
            <a:ext cx="7408863" cy="3810000"/>
          </a:xfrm>
        </p:spPr>
        <p:txBody>
          <a:bodyPr>
            <a:normAutofit/>
          </a:bodyPr>
          <a:lstStyle/>
          <a:p>
            <a:r>
              <a:rPr lang="en-IN" sz="2000" b="1" dirty="0"/>
              <a:t>Communication and Coordination:</a:t>
            </a:r>
            <a:r>
              <a:rPr lang="en-IN" sz="2000" dirty="0"/>
              <a:t> Open and effective communication among team members and stakeholders is crucial to ensure resource allocation is in alignment with project objectives.</a:t>
            </a:r>
          </a:p>
          <a:p>
            <a:r>
              <a:rPr lang="en-IN" sz="2000" b="1" dirty="0"/>
              <a:t>Iterative Process:</a:t>
            </a:r>
            <a:r>
              <a:rPr lang="en-IN" sz="2000" dirty="0"/>
              <a:t> Just like other aspects of initial development, resource allocation may require adjustments as the project evolves and needs change.</a:t>
            </a:r>
          </a:p>
          <a:p>
            <a:endParaRPr lang="en-IN" sz="2000" dirty="0"/>
          </a:p>
        </p:txBody>
      </p:sp>
    </p:spTree>
    <p:extLst>
      <p:ext uri="{BB962C8B-B14F-4D97-AF65-F5344CB8AC3E}">
        <p14:creationId xmlns:p14="http://schemas.microsoft.com/office/powerpoint/2010/main" val="17961995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0"/>
            <a:ext cx="7772400" cy="1780108"/>
          </a:xfrm>
        </p:spPr>
        <p:txBody>
          <a:bodyPr>
            <a:noAutofit/>
          </a:bodyPr>
          <a:lstStyle/>
          <a:p>
            <a:r>
              <a:rPr lang="en-IN" sz="6000" b="1" dirty="0">
                <a:latin typeface="Bradley Hand ITC" pitchFamily="66" charset="0"/>
              </a:rPr>
              <a:t>Technology Stack Selection</a:t>
            </a:r>
            <a:endParaRPr lang="en-IN" sz="6000" dirty="0">
              <a:latin typeface="Bradley Hand ITC" pitchFamily="66" charset="0"/>
            </a:endParaRPr>
          </a:p>
        </p:txBody>
      </p:sp>
    </p:spTree>
    <p:extLst>
      <p:ext uri="{BB962C8B-B14F-4D97-AF65-F5344CB8AC3E}">
        <p14:creationId xmlns:p14="http://schemas.microsoft.com/office/powerpoint/2010/main" val="1701654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72067" y="2362200"/>
            <a:ext cx="7408333" cy="3962400"/>
          </a:xfrm>
        </p:spPr>
        <p:txBody>
          <a:bodyPr>
            <a:normAutofit fontScale="77500" lnSpcReduction="20000"/>
          </a:bodyPr>
          <a:lstStyle/>
          <a:p>
            <a:pPr marL="0" indent="0">
              <a:buNone/>
            </a:pPr>
            <a:r>
              <a:rPr lang="en-IN" dirty="0"/>
              <a:t>In the digital age, technology is the backbone of project development. This phase is dedicated to selecting the tools and platforms that will bring our project to life.</a:t>
            </a:r>
          </a:p>
          <a:p>
            <a:r>
              <a:rPr lang="en-IN" b="1" dirty="0"/>
              <a:t>Defining Technology Stack Selection:</a:t>
            </a:r>
            <a:r>
              <a:rPr lang="en-IN" dirty="0"/>
              <a:t> This is the process of choosing the combination of programming languages, frameworks, databases, and other technologies that best suit the project's requirements</a:t>
            </a:r>
            <a:r>
              <a:rPr lang="en-IN" dirty="0" smtClean="0"/>
              <a:t>.</a:t>
            </a:r>
          </a:p>
          <a:p>
            <a:r>
              <a:rPr lang="en-IN" b="1" dirty="0"/>
              <a:t>Iterative Process:</a:t>
            </a:r>
            <a:r>
              <a:rPr lang="en-IN" dirty="0"/>
              <a:t> Technology stack selection is not static. As the project evolves and new technologies emerge, we may need to revisit and adapt our choices.</a:t>
            </a:r>
          </a:p>
          <a:p>
            <a:r>
              <a:rPr lang="en-IN" b="1" dirty="0"/>
              <a:t>Risk Management:</a:t>
            </a:r>
            <a:r>
              <a:rPr lang="en-IN" dirty="0"/>
              <a:t> Consider how the chosen technologies impact project risks, including potential vulnerabilities and data security.</a:t>
            </a:r>
          </a:p>
          <a:p>
            <a:r>
              <a:rPr lang="en-IN" b="1" dirty="0"/>
              <a:t>User-Centric Focus:</a:t>
            </a:r>
            <a:r>
              <a:rPr lang="en-IN" dirty="0"/>
              <a:t> Keep in mind that the chosen technologies should serve the needs of the project's end-users and stakeholders, ensuring a positive user experience.</a:t>
            </a:r>
          </a:p>
          <a:p>
            <a:endParaRPr lang="en-IN" dirty="0"/>
          </a:p>
          <a:p>
            <a:endParaRPr lang="en-IN" dirty="0"/>
          </a:p>
        </p:txBody>
      </p:sp>
      <p:sp>
        <p:nvSpPr>
          <p:cNvPr id="3" name="Title 2"/>
          <p:cNvSpPr>
            <a:spLocks noGrp="1"/>
          </p:cNvSpPr>
          <p:nvPr>
            <p:ph type="title"/>
          </p:nvPr>
        </p:nvSpPr>
        <p:spPr/>
        <p:txBody>
          <a:bodyPr>
            <a:normAutofit fontScale="90000"/>
          </a:bodyPr>
          <a:lstStyle/>
          <a:p>
            <a:r>
              <a:rPr lang="en-IN" dirty="0"/>
              <a:t>Technology Stack Selection: Building with the Right Tools</a:t>
            </a:r>
            <a:endParaRPr lang="en-IN" dirty="0"/>
          </a:p>
        </p:txBody>
      </p:sp>
    </p:spTree>
    <p:extLst>
      <p:ext uri="{BB962C8B-B14F-4D97-AF65-F5344CB8AC3E}">
        <p14:creationId xmlns:p14="http://schemas.microsoft.com/office/powerpoint/2010/main" val="29432821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b="1" dirty="0"/>
              <a:t>Key Considerations:</a:t>
            </a:r>
            <a:endParaRPr lang="en-IN" dirty="0"/>
          </a:p>
        </p:txBody>
      </p:sp>
      <p:sp>
        <p:nvSpPr>
          <p:cNvPr id="4" name="Content Placeholder 3"/>
          <p:cNvSpPr>
            <a:spLocks noGrp="1"/>
          </p:cNvSpPr>
          <p:nvPr>
            <p:ph sz="quarter" idx="13"/>
          </p:nvPr>
        </p:nvSpPr>
        <p:spPr>
          <a:xfrm>
            <a:off x="676655" y="2679192"/>
            <a:ext cx="3822192" cy="3493008"/>
          </a:xfrm>
        </p:spPr>
        <p:txBody>
          <a:bodyPr>
            <a:noAutofit/>
          </a:bodyPr>
          <a:lstStyle/>
          <a:p>
            <a:r>
              <a:rPr lang="en-IN" sz="1800" b="1" dirty="0"/>
              <a:t>Project Objectives:</a:t>
            </a:r>
            <a:r>
              <a:rPr lang="en-IN" sz="1800" dirty="0"/>
              <a:t> The selected technology stack should align with the project's specific goals and requirements.</a:t>
            </a:r>
          </a:p>
          <a:p>
            <a:r>
              <a:rPr lang="en-IN" sz="1800" b="1" dirty="0"/>
              <a:t>Scalability:</a:t>
            </a:r>
            <a:r>
              <a:rPr lang="en-IN" sz="1800" dirty="0"/>
              <a:t> Ensure the chosen technologies can grow with the project as user demand increases.</a:t>
            </a:r>
          </a:p>
          <a:p>
            <a:r>
              <a:rPr lang="en-IN" sz="1800" b="1" dirty="0"/>
              <a:t>Compatibility:</a:t>
            </a:r>
            <a:r>
              <a:rPr lang="en-IN" sz="1800" dirty="0"/>
              <a:t> Technologies should work seamlessly together and integrate with existing systems if necessary</a:t>
            </a:r>
            <a:r>
              <a:rPr lang="en-IN" sz="1400" dirty="0" smtClean="0"/>
              <a:t>.</a:t>
            </a:r>
            <a:endParaRPr lang="en-IN" sz="1400" dirty="0"/>
          </a:p>
        </p:txBody>
      </p:sp>
      <p:pic>
        <p:nvPicPr>
          <p:cNvPr id="6" name="Content Placeholder 5"/>
          <p:cNvPicPr>
            <a:picLocks noGrp="1" noChangeAspect="1"/>
          </p:cNvPicPr>
          <p:nvPr>
            <p:ph sz="quarter" idx="14"/>
          </p:nvPr>
        </p:nvPicPr>
        <p:blipFill>
          <a:blip r:embed="rId2">
            <a:extLst>
              <a:ext uri="{28A0092B-C50C-407E-A947-70E740481C1C}">
                <a14:useLocalDpi xmlns:a14="http://schemas.microsoft.com/office/drawing/2010/main" val="0"/>
              </a:ext>
            </a:extLst>
          </a:blip>
          <a:stretch>
            <a:fillRect/>
          </a:stretch>
        </p:blipFill>
        <p:spPr>
          <a:xfrm>
            <a:off x="4645025" y="2988532"/>
            <a:ext cx="3822700" cy="2828798"/>
          </a:xfrm>
        </p:spPr>
      </p:pic>
    </p:spTree>
    <p:extLst>
      <p:ext uri="{BB962C8B-B14F-4D97-AF65-F5344CB8AC3E}">
        <p14:creationId xmlns:p14="http://schemas.microsoft.com/office/powerpoint/2010/main" val="34860152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685800" y="1905000"/>
            <a:ext cx="7772400" cy="1780108"/>
          </a:xfrm>
        </p:spPr>
        <p:txBody>
          <a:bodyPr>
            <a:normAutofit/>
          </a:bodyPr>
          <a:lstStyle/>
          <a:p>
            <a:r>
              <a:rPr lang="en-IN" sz="6000" b="1" dirty="0">
                <a:latin typeface="Bradley Hand ITC" pitchFamily="66" charset="0"/>
              </a:rPr>
              <a:t>Team Formation</a:t>
            </a:r>
            <a:endParaRPr lang="en-IN" sz="6000" dirty="0">
              <a:latin typeface="Bradley Hand ITC" pitchFamily="66" charset="0"/>
            </a:endParaRPr>
          </a:p>
        </p:txBody>
      </p:sp>
    </p:spTree>
    <p:extLst>
      <p:ext uri="{BB962C8B-B14F-4D97-AF65-F5344CB8AC3E}">
        <p14:creationId xmlns:p14="http://schemas.microsoft.com/office/powerpoint/2010/main" val="39116113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72067" y="2514600"/>
            <a:ext cx="7408333" cy="3611563"/>
          </a:xfrm>
        </p:spPr>
        <p:txBody>
          <a:bodyPr>
            <a:normAutofit fontScale="92500"/>
          </a:bodyPr>
          <a:lstStyle/>
          <a:p>
            <a:pPr marL="0" indent="0">
              <a:buNone/>
            </a:pPr>
            <a:r>
              <a:rPr lang="en-IN" dirty="0"/>
              <a:t>Behind every successful project is a great team. This phase is dedicated to assembling the individuals who will bring the project to life.</a:t>
            </a:r>
          </a:p>
          <a:p>
            <a:r>
              <a:rPr lang="en-IN" b="1" dirty="0"/>
              <a:t>Importance of Team Formation:</a:t>
            </a:r>
            <a:r>
              <a:rPr lang="en-IN" dirty="0"/>
              <a:t> Building the right team is like casting the actors for a successful play. The team is responsible for the project's execution and success.</a:t>
            </a:r>
          </a:p>
          <a:p>
            <a:r>
              <a:rPr lang="en-IN" b="1" dirty="0"/>
              <a:t>Roles and Responsibilities:</a:t>
            </a:r>
            <a:r>
              <a:rPr lang="en-IN" dirty="0"/>
              <a:t> Team formation involves defining the roles and responsibilities of each team member. It answers the questions of who will do what and when.</a:t>
            </a:r>
          </a:p>
          <a:p>
            <a:endParaRPr lang="en-IN" dirty="0"/>
          </a:p>
        </p:txBody>
      </p:sp>
      <p:sp>
        <p:nvSpPr>
          <p:cNvPr id="3" name="Title 2"/>
          <p:cNvSpPr>
            <a:spLocks noGrp="1"/>
          </p:cNvSpPr>
          <p:nvPr>
            <p:ph type="title"/>
          </p:nvPr>
        </p:nvSpPr>
        <p:spPr/>
        <p:txBody>
          <a:bodyPr>
            <a:normAutofit fontScale="90000"/>
          </a:bodyPr>
          <a:lstStyle/>
          <a:p>
            <a:r>
              <a:rPr lang="en-IN" dirty="0"/>
              <a:t>Team Formation: Assembling the Dream Team</a:t>
            </a:r>
            <a:endParaRPr lang="en-IN" dirty="0"/>
          </a:p>
        </p:txBody>
      </p:sp>
    </p:spTree>
    <p:extLst>
      <p:ext uri="{BB962C8B-B14F-4D97-AF65-F5344CB8AC3E}">
        <p14:creationId xmlns:p14="http://schemas.microsoft.com/office/powerpoint/2010/main" val="9505796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33400" y="1600200"/>
            <a:ext cx="8001000" cy="4093428"/>
          </a:xfrm>
          <a:prstGeom prst="rect">
            <a:avLst/>
          </a:prstGeom>
          <a:solidFill>
            <a:schemeClr val="bg1"/>
          </a:solidFill>
        </p:spPr>
        <p:txBody>
          <a:bodyPr wrap="square">
            <a:spAutoFit/>
          </a:bodyPr>
          <a:lstStyle/>
          <a:p>
            <a:r>
              <a:rPr lang="en-IN" sz="2000" b="1" dirty="0">
                <a:solidFill>
                  <a:schemeClr val="tx2"/>
                </a:solidFill>
              </a:rPr>
              <a:t>Team Dynamics:</a:t>
            </a:r>
            <a:r>
              <a:rPr lang="en-IN" sz="2000" dirty="0">
                <a:solidFill>
                  <a:schemeClr val="tx2"/>
                </a:solidFill>
              </a:rPr>
              <a:t> Creating a team with complementary skills and expertise fosters collaboration and efficiency. Team members should understand their roles and how they fit into the larger project.</a:t>
            </a:r>
          </a:p>
          <a:p>
            <a:r>
              <a:rPr lang="en-IN" sz="2000" b="1" dirty="0">
                <a:solidFill>
                  <a:schemeClr val="tx2"/>
                </a:solidFill>
              </a:rPr>
              <a:t>Communication and Collaboration:</a:t>
            </a:r>
            <a:r>
              <a:rPr lang="en-IN" sz="2000" dirty="0">
                <a:solidFill>
                  <a:schemeClr val="tx2"/>
                </a:solidFill>
              </a:rPr>
              <a:t> Effective communication and collaboration are key. Establish communication channels and a culture of sharing ideas and feedback.</a:t>
            </a:r>
          </a:p>
          <a:p>
            <a:r>
              <a:rPr lang="en-IN" sz="2000" b="1" dirty="0">
                <a:solidFill>
                  <a:schemeClr val="tx2"/>
                </a:solidFill>
              </a:rPr>
              <a:t>Leadership:</a:t>
            </a:r>
            <a:r>
              <a:rPr lang="en-IN" sz="2000" dirty="0">
                <a:solidFill>
                  <a:schemeClr val="tx2"/>
                </a:solidFill>
              </a:rPr>
              <a:t> Appoint or identify leaders who can guide the team, make decisions, and keep the project on track.</a:t>
            </a:r>
          </a:p>
          <a:p>
            <a:r>
              <a:rPr lang="en-IN" sz="2000" b="1" dirty="0">
                <a:solidFill>
                  <a:schemeClr val="tx2"/>
                </a:solidFill>
              </a:rPr>
              <a:t>Team Building:</a:t>
            </a:r>
            <a:r>
              <a:rPr lang="en-IN" sz="2000" dirty="0">
                <a:solidFill>
                  <a:schemeClr val="tx2"/>
                </a:solidFill>
              </a:rPr>
              <a:t> Team formation isn't just about roles; it's also about building a sense of camaraderie and shared purpose among team members.</a:t>
            </a:r>
          </a:p>
          <a:p>
            <a:r>
              <a:rPr lang="en-IN" sz="2000" b="1" dirty="0">
                <a:solidFill>
                  <a:schemeClr val="tx2"/>
                </a:solidFill>
              </a:rPr>
              <a:t>Iterative Approach:</a:t>
            </a:r>
            <a:r>
              <a:rPr lang="en-IN" sz="2000" dirty="0">
                <a:solidFill>
                  <a:schemeClr val="tx2"/>
                </a:solidFill>
              </a:rPr>
              <a:t> Just like other project aspects, team formation can be iterative. As project needs evolve, the team may need adjustments.</a:t>
            </a:r>
          </a:p>
        </p:txBody>
      </p:sp>
    </p:spTree>
    <p:extLst>
      <p:ext uri="{BB962C8B-B14F-4D97-AF65-F5344CB8AC3E}">
        <p14:creationId xmlns:p14="http://schemas.microsoft.com/office/powerpoint/2010/main" val="36451928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828800"/>
            <a:ext cx="7772400" cy="1780108"/>
          </a:xfrm>
        </p:spPr>
        <p:txBody>
          <a:bodyPr>
            <a:normAutofit/>
          </a:bodyPr>
          <a:lstStyle/>
          <a:p>
            <a:r>
              <a:rPr lang="en-IN" sz="6000" b="1" dirty="0">
                <a:latin typeface="Bradley Hand ITC" pitchFamily="66" charset="0"/>
              </a:rPr>
              <a:t>Prototyping and MVP</a:t>
            </a:r>
            <a:endParaRPr lang="en-IN" sz="6000" dirty="0">
              <a:latin typeface="Bradley Hand ITC" pitchFamily="66" charset="0"/>
            </a:endParaRPr>
          </a:p>
        </p:txBody>
      </p:sp>
    </p:spTree>
    <p:extLst>
      <p:ext uri="{BB962C8B-B14F-4D97-AF65-F5344CB8AC3E}">
        <p14:creationId xmlns:p14="http://schemas.microsoft.com/office/powerpoint/2010/main" val="1985650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72067" y="2438400"/>
            <a:ext cx="7408333" cy="3687763"/>
          </a:xfrm>
        </p:spPr>
        <p:txBody>
          <a:bodyPr>
            <a:normAutofit fontScale="92500" lnSpcReduction="10000"/>
          </a:bodyPr>
          <a:lstStyle/>
          <a:p>
            <a:pPr marL="0" indent="0">
              <a:buNone/>
            </a:pPr>
            <a:r>
              <a:rPr lang="en-IN" dirty="0"/>
              <a:t>The early stages of project development are an ideal time to test ideas and concepts before fully committing. This is where prototyping and Minimum Viable Product (MVP) come into play.</a:t>
            </a:r>
          </a:p>
          <a:p>
            <a:r>
              <a:rPr lang="en-IN" b="1" dirty="0"/>
              <a:t>Prototyping Defined:</a:t>
            </a:r>
            <a:r>
              <a:rPr lang="en-IN" dirty="0"/>
              <a:t> Prototyping involves creating a preliminary, simplified version of the product to test ideas and features. It allows for user feedback and concept validation without fully developing the product.</a:t>
            </a:r>
          </a:p>
          <a:p>
            <a:r>
              <a:rPr lang="en-IN" b="1" dirty="0"/>
              <a:t>MVP Defined:</a:t>
            </a:r>
            <a:r>
              <a:rPr lang="en-IN" dirty="0"/>
              <a:t> The Minimum Viable Product is the smallest version of the product that provides value to users. It allows for early market entry and user feedback.</a:t>
            </a:r>
          </a:p>
          <a:p>
            <a:endParaRPr lang="en-IN" dirty="0"/>
          </a:p>
        </p:txBody>
      </p:sp>
      <p:sp>
        <p:nvSpPr>
          <p:cNvPr id="3" name="Title 2"/>
          <p:cNvSpPr>
            <a:spLocks noGrp="1"/>
          </p:cNvSpPr>
          <p:nvPr>
            <p:ph type="title"/>
          </p:nvPr>
        </p:nvSpPr>
        <p:spPr/>
        <p:txBody>
          <a:bodyPr>
            <a:normAutofit fontScale="90000"/>
          </a:bodyPr>
          <a:lstStyle/>
          <a:p>
            <a:r>
              <a:rPr lang="en-IN" dirty="0"/>
              <a:t>Iterative Development for a Successful Product</a:t>
            </a:r>
            <a:endParaRPr lang="en-IN" dirty="0"/>
          </a:p>
        </p:txBody>
      </p:sp>
    </p:spTree>
    <p:extLst>
      <p:ext uri="{BB962C8B-B14F-4D97-AF65-F5344CB8AC3E}">
        <p14:creationId xmlns:p14="http://schemas.microsoft.com/office/powerpoint/2010/main" val="6016976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b="1" dirty="0"/>
              <a:t>Key Benefits:</a:t>
            </a:r>
            <a:endParaRPr lang="en-IN" dirty="0"/>
          </a:p>
        </p:txBody>
      </p:sp>
      <p:sp>
        <p:nvSpPr>
          <p:cNvPr id="5" name="Content Placeholder 4"/>
          <p:cNvSpPr>
            <a:spLocks noGrp="1"/>
          </p:cNvSpPr>
          <p:nvPr>
            <p:ph sz="quarter" idx="13"/>
          </p:nvPr>
        </p:nvSpPr>
        <p:spPr>
          <a:xfrm>
            <a:off x="676655" y="2679192"/>
            <a:ext cx="3822192" cy="3493008"/>
          </a:xfrm>
        </p:spPr>
        <p:txBody>
          <a:bodyPr>
            <a:noAutofit/>
          </a:bodyPr>
          <a:lstStyle/>
          <a:p>
            <a:r>
              <a:rPr lang="en-IN" sz="1500" b="1" dirty="0"/>
              <a:t>User Feedback:</a:t>
            </a:r>
            <a:r>
              <a:rPr lang="en-IN" sz="1500" dirty="0"/>
              <a:t> Both prototyping and MVPs enable us to gather user feedback early in the development process.</a:t>
            </a:r>
          </a:p>
          <a:p>
            <a:r>
              <a:rPr lang="en-IN" sz="1500" b="1" dirty="0"/>
              <a:t>Concept Validation:</a:t>
            </a:r>
            <a:r>
              <a:rPr lang="en-IN" sz="1500" dirty="0"/>
              <a:t> Prototyping helps validate concepts and features, reducing the risk of building something that users won't find valuable.</a:t>
            </a:r>
          </a:p>
          <a:p>
            <a:r>
              <a:rPr lang="en-IN" sz="1500" b="1" dirty="0"/>
              <a:t>Risk Mitigation:</a:t>
            </a:r>
            <a:r>
              <a:rPr lang="en-IN" sz="1500" dirty="0"/>
              <a:t> By testing early, we can identify and mitigate potential issues or challenges.</a:t>
            </a:r>
          </a:p>
          <a:p>
            <a:r>
              <a:rPr lang="en-IN" sz="1500" b="1" dirty="0"/>
              <a:t>Cost and Time Savings:</a:t>
            </a:r>
            <a:r>
              <a:rPr lang="en-IN" sz="1500" dirty="0"/>
              <a:t> It's more cost-effective to make changes during the prototype or MVP phase than after full development</a:t>
            </a:r>
            <a:r>
              <a:rPr lang="en-IN" sz="1500" dirty="0" smtClean="0"/>
              <a:t>.</a:t>
            </a:r>
            <a:endParaRPr lang="en-IN" sz="1500" dirty="0"/>
          </a:p>
        </p:txBody>
      </p:sp>
      <p:pic>
        <p:nvPicPr>
          <p:cNvPr id="7" name="Content Placeholder 6"/>
          <p:cNvPicPr>
            <a:picLocks noGrp="1" noChangeAspect="1"/>
          </p:cNvPicPr>
          <p:nvPr>
            <p:ph sz="quarter" idx="14"/>
          </p:nvPr>
        </p:nvPicPr>
        <p:blipFill>
          <a:blip r:embed="rId2" cstate="print">
            <a:extLst>
              <a:ext uri="{28A0092B-C50C-407E-A947-70E740481C1C}">
                <a14:useLocalDpi xmlns:a14="http://schemas.microsoft.com/office/drawing/2010/main" val="0"/>
              </a:ext>
            </a:extLst>
          </a:blip>
          <a:stretch>
            <a:fillRect/>
          </a:stretch>
        </p:blipFill>
        <p:spPr>
          <a:xfrm>
            <a:off x="4724400" y="3505200"/>
            <a:ext cx="3822700" cy="1390501"/>
          </a:xfrm>
        </p:spPr>
      </p:pic>
    </p:spTree>
    <p:extLst>
      <p:ext uri="{BB962C8B-B14F-4D97-AF65-F5344CB8AC3E}">
        <p14:creationId xmlns:p14="http://schemas.microsoft.com/office/powerpoint/2010/main" val="17315588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685800" y="2362200"/>
            <a:ext cx="7772400" cy="1780108"/>
          </a:xfrm>
        </p:spPr>
        <p:txBody>
          <a:bodyPr>
            <a:noAutofit/>
          </a:bodyPr>
          <a:lstStyle/>
          <a:p>
            <a:r>
              <a:rPr lang="en-IN" sz="6000" b="1" dirty="0">
                <a:latin typeface="Bradley Hand ITC" pitchFamily="66" charset="0"/>
              </a:rPr>
              <a:t>Data Gathering and Analysis</a:t>
            </a:r>
            <a:endParaRPr lang="en-IN" sz="6000" dirty="0">
              <a:latin typeface="Bradley Hand ITC" pitchFamily="66" charset="0"/>
            </a:endParaRPr>
          </a:p>
        </p:txBody>
      </p:sp>
    </p:spTree>
    <p:extLst>
      <p:ext uri="{BB962C8B-B14F-4D97-AF65-F5344CB8AC3E}">
        <p14:creationId xmlns:p14="http://schemas.microsoft.com/office/powerpoint/2010/main" val="16327514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pPr marL="0" indent="0">
              <a:buNone/>
            </a:pPr>
            <a:r>
              <a:rPr lang="en-IN" dirty="0"/>
              <a:t>In today's data-driven world, information is power. This phase is dedicated to gathering and </a:t>
            </a:r>
            <a:r>
              <a:rPr lang="en-IN" dirty="0" err="1"/>
              <a:t>analyzing</a:t>
            </a:r>
            <a:r>
              <a:rPr lang="en-IN" dirty="0"/>
              <a:t> data to make informed decisions that shape the project's direction.</a:t>
            </a:r>
          </a:p>
          <a:p>
            <a:r>
              <a:rPr lang="en-IN" b="1" dirty="0"/>
              <a:t>Data Gathering Defined:</a:t>
            </a:r>
            <a:r>
              <a:rPr lang="en-IN" dirty="0"/>
              <a:t> Data gathering involves collecting relevant information, including user feedback, performance metrics, and market data, to better understand the project's context.</a:t>
            </a:r>
          </a:p>
          <a:p>
            <a:r>
              <a:rPr lang="en-IN" b="1" dirty="0"/>
              <a:t>Importance of Data Analysis:</a:t>
            </a:r>
            <a:r>
              <a:rPr lang="en-IN" dirty="0"/>
              <a:t> Data analysis is the process of making sense of the gathered information. It provides insights that guide project decision-making and improvements.</a:t>
            </a:r>
          </a:p>
          <a:p>
            <a:endParaRPr lang="en-IN" dirty="0"/>
          </a:p>
        </p:txBody>
      </p:sp>
      <p:sp>
        <p:nvSpPr>
          <p:cNvPr id="3" name="Title 2"/>
          <p:cNvSpPr>
            <a:spLocks noGrp="1"/>
          </p:cNvSpPr>
          <p:nvPr>
            <p:ph type="title"/>
          </p:nvPr>
        </p:nvSpPr>
        <p:spPr/>
        <p:txBody>
          <a:bodyPr>
            <a:normAutofit fontScale="90000"/>
          </a:bodyPr>
          <a:lstStyle/>
          <a:p>
            <a:r>
              <a:rPr lang="en-IN" dirty="0"/>
              <a:t>Data Gathering and Analysis: Insights for Informed Decisions</a:t>
            </a:r>
            <a:endParaRPr lang="en-IN" dirty="0"/>
          </a:p>
        </p:txBody>
      </p:sp>
    </p:spTree>
    <p:extLst>
      <p:ext uri="{BB962C8B-B14F-4D97-AF65-F5344CB8AC3E}">
        <p14:creationId xmlns:p14="http://schemas.microsoft.com/office/powerpoint/2010/main" val="32175466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idx="1"/>
          </p:nvPr>
        </p:nvSpPr>
        <p:spPr>
          <a:xfrm>
            <a:off x="872067" y="2209800"/>
            <a:ext cx="7408333" cy="3916363"/>
          </a:xfrm>
        </p:spPr>
        <p:txBody>
          <a:bodyPr>
            <a:normAutofit/>
          </a:bodyPr>
          <a:lstStyle/>
          <a:p>
            <a:r>
              <a:rPr lang="en-IN" b="1" dirty="0"/>
              <a:t>User Feedback:</a:t>
            </a:r>
            <a:r>
              <a:rPr lang="en-IN" dirty="0"/>
              <a:t> User insights gathered through prototypes and MVPs.</a:t>
            </a:r>
          </a:p>
          <a:p>
            <a:r>
              <a:rPr lang="en-IN" b="1" dirty="0"/>
              <a:t>Performance Metrics:</a:t>
            </a:r>
            <a:r>
              <a:rPr lang="en-IN" dirty="0"/>
              <a:t> Metrics like response times, user engagement, and error rates to assess the project's performance.</a:t>
            </a:r>
          </a:p>
          <a:p>
            <a:r>
              <a:rPr lang="en-IN" b="1" dirty="0"/>
              <a:t>Market Data:</a:t>
            </a:r>
            <a:r>
              <a:rPr lang="en-IN" dirty="0"/>
              <a:t> Understanding market trends and competitor insights.</a:t>
            </a:r>
          </a:p>
          <a:p>
            <a:r>
              <a:rPr lang="en-IN" b="1" dirty="0" err="1"/>
              <a:t>Behavioral</a:t>
            </a:r>
            <a:r>
              <a:rPr lang="en-IN" b="1" dirty="0"/>
              <a:t> Data:</a:t>
            </a:r>
            <a:r>
              <a:rPr lang="en-IN" dirty="0"/>
              <a:t> </a:t>
            </a:r>
            <a:r>
              <a:rPr lang="en-IN" dirty="0" err="1"/>
              <a:t>Analyzing</a:t>
            </a:r>
            <a:r>
              <a:rPr lang="en-IN" dirty="0"/>
              <a:t> user </a:t>
            </a:r>
            <a:r>
              <a:rPr lang="en-IN" dirty="0" err="1"/>
              <a:t>behavior</a:t>
            </a:r>
            <a:r>
              <a:rPr lang="en-IN" dirty="0"/>
              <a:t> within the project, including interactions and preferences.</a:t>
            </a:r>
          </a:p>
          <a:p>
            <a:endParaRPr lang="en-IN" dirty="0"/>
          </a:p>
        </p:txBody>
      </p:sp>
      <p:sp>
        <p:nvSpPr>
          <p:cNvPr id="4" name="Title 3"/>
          <p:cNvSpPr>
            <a:spLocks noGrp="1"/>
          </p:cNvSpPr>
          <p:nvPr>
            <p:ph type="title"/>
          </p:nvPr>
        </p:nvSpPr>
        <p:spPr/>
        <p:txBody>
          <a:bodyPr/>
          <a:lstStyle/>
          <a:p>
            <a:r>
              <a:rPr lang="en-IN" b="1" dirty="0"/>
              <a:t>Key Aspects</a:t>
            </a:r>
            <a:r>
              <a:rPr lang="en-IN" b="1" dirty="0" smtClean="0"/>
              <a:t>: 	</a:t>
            </a:r>
            <a:endParaRPr lang="en-IN" dirty="0"/>
          </a:p>
        </p:txBody>
      </p:sp>
    </p:spTree>
    <p:extLst>
      <p:ext uri="{BB962C8B-B14F-4D97-AF65-F5344CB8AC3E}">
        <p14:creationId xmlns:p14="http://schemas.microsoft.com/office/powerpoint/2010/main" val="25510683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p:cNvPicPr>
            <a:picLocks noGrp="1" noChangeAspect="1"/>
          </p:cNvPicPr>
          <p:nvPr>
            <p:ph type="pic" idx="1"/>
          </p:nvPr>
        </p:nvPicPr>
        <p:blipFill>
          <a:blip r:embed="rId2">
            <a:extLst>
              <a:ext uri="{28A0092B-C50C-407E-A947-70E740481C1C}">
                <a14:useLocalDpi xmlns:a14="http://schemas.microsoft.com/office/drawing/2010/main" val="0"/>
              </a:ext>
            </a:extLst>
          </a:blip>
          <a:srcRect l="18328" r="18328"/>
          <a:stretch>
            <a:fillRect/>
          </a:stretch>
        </p:blipFill>
        <p:spPr>
          <a:xfrm>
            <a:off x="838200" y="1828800"/>
            <a:ext cx="3566160" cy="2697480"/>
          </a:xfrm>
        </p:spPr>
      </p:pic>
      <p:sp>
        <p:nvSpPr>
          <p:cNvPr id="10" name="Text Placeholder 8"/>
          <p:cNvSpPr>
            <a:spLocks noGrp="1"/>
          </p:cNvSpPr>
          <p:nvPr>
            <p:ph type="title"/>
          </p:nvPr>
        </p:nvSpPr>
        <p:spPr>
          <a:xfrm>
            <a:off x="4876800" y="1676400"/>
            <a:ext cx="3812645" cy="2429934"/>
          </a:xfrm>
        </p:spPr>
        <p:txBody>
          <a:bodyPr>
            <a:normAutofit/>
          </a:bodyPr>
          <a:lstStyle/>
          <a:p>
            <a:r>
              <a:rPr lang="en-IN" sz="4400" b="1" dirty="0">
                <a:latin typeface="Bradley Hand ITC" pitchFamily="66" charset="0"/>
              </a:rPr>
              <a:t>Testing and Quality Assurance</a:t>
            </a:r>
            <a:endParaRPr lang="en-IN" sz="4400" dirty="0">
              <a:latin typeface="Bradley Hand ITC" pitchFamily="66" charset="0"/>
            </a:endParaRPr>
          </a:p>
        </p:txBody>
      </p:sp>
    </p:spTree>
    <p:extLst>
      <p:ext uri="{BB962C8B-B14F-4D97-AF65-F5344CB8AC3E}">
        <p14:creationId xmlns:p14="http://schemas.microsoft.com/office/powerpoint/2010/main" val="26062529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idx="1"/>
          </p:nvPr>
        </p:nvSpPr>
        <p:spPr/>
        <p:txBody>
          <a:bodyPr>
            <a:normAutofit fontScale="85000" lnSpcReduction="10000"/>
          </a:bodyPr>
          <a:lstStyle/>
          <a:p>
            <a:pPr marL="0" indent="0">
              <a:buNone/>
            </a:pPr>
            <a:r>
              <a:rPr lang="en-IN" dirty="0"/>
              <a:t>The reliability of a project is a non-negotiable aspect of success. In this phase, we explore the importance of testing and quality assurance to ensure a robust and dependable product.</a:t>
            </a:r>
          </a:p>
          <a:p>
            <a:r>
              <a:rPr lang="en-IN" b="1" dirty="0"/>
              <a:t>Testing and Quality Assurance Defined:</a:t>
            </a:r>
            <a:r>
              <a:rPr lang="en-IN" dirty="0"/>
              <a:t> Testing is the process of evaluating a project to identify and resolve issues or errors. Quality assurance encompasses all processes that ensure the project meets the required quality standards.</a:t>
            </a:r>
          </a:p>
          <a:p>
            <a:r>
              <a:rPr lang="en-US" dirty="0" smtClean="0"/>
              <a:t> </a:t>
            </a:r>
            <a:r>
              <a:rPr lang="en-IN" b="1" dirty="0"/>
              <a:t>Documentation:</a:t>
            </a:r>
            <a:r>
              <a:rPr lang="en-IN" dirty="0"/>
              <a:t> It's important to maintain detailed records of testing procedures, identified issues, and their resolutions. This documentation aids in accountability and future reference.</a:t>
            </a:r>
            <a:endParaRPr lang="en-IN" dirty="0"/>
          </a:p>
        </p:txBody>
      </p:sp>
      <p:sp>
        <p:nvSpPr>
          <p:cNvPr id="7" name="Title 6"/>
          <p:cNvSpPr>
            <a:spLocks noGrp="1"/>
          </p:cNvSpPr>
          <p:nvPr>
            <p:ph type="title"/>
          </p:nvPr>
        </p:nvSpPr>
        <p:spPr/>
        <p:txBody>
          <a:bodyPr>
            <a:normAutofit fontScale="90000"/>
          </a:bodyPr>
          <a:lstStyle/>
          <a:p>
            <a:r>
              <a:rPr lang="en-IN" dirty="0"/>
              <a:t>Testing and Quality Assurance: Ensuring a Reliable </a:t>
            </a:r>
            <a:r>
              <a:rPr lang="en-IN" dirty="0" smtClean="0"/>
              <a:t>Product </a:t>
            </a:r>
            <a:endParaRPr lang="en-IN" dirty="0"/>
          </a:p>
        </p:txBody>
      </p:sp>
    </p:spTree>
    <p:extLst>
      <p:ext uri="{BB962C8B-B14F-4D97-AF65-F5344CB8AC3E}">
        <p14:creationId xmlns:p14="http://schemas.microsoft.com/office/powerpoint/2010/main" val="33030347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685800" y="1828800"/>
            <a:ext cx="7772400" cy="1780108"/>
          </a:xfrm>
        </p:spPr>
        <p:txBody>
          <a:bodyPr>
            <a:normAutofit/>
          </a:bodyPr>
          <a:lstStyle/>
          <a:p>
            <a:r>
              <a:rPr lang="en-US" sz="6000" b="1" dirty="0" smtClean="0">
                <a:latin typeface="Bradley Hand ITC" pitchFamily="66" charset="0"/>
              </a:rPr>
              <a:t>CONCLUSION</a:t>
            </a:r>
            <a:endParaRPr lang="en-IN" sz="6000" b="1" dirty="0">
              <a:latin typeface="Bradley Hand ITC" pitchFamily="66" charset="0"/>
            </a:endParaRPr>
          </a:p>
        </p:txBody>
      </p:sp>
    </p:spTree>
    <p:extLst>
      <p:ext uri="{BB962C8B-B14F-4D97-AF65-F5344CB8AC3E}">
        <p14:creationId xmlns:p14="http://schemas.microsoft.com/office/powerpoint/2010/main" val="34758625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8"/>
          <p:cNvSpPr txBox="1">
            <a:spLocks/>
          </p:cNvSpPr>
          <p:nvPr/>
        </p:nvSpPr>
        <p:spPr>
          <a:xfrm>
            <a:off x="872067" y="1447800"/>
            <a:ext cx="7408333" cy="4678363"/>
          </a:xfrm>
          <a:prstGeom prst="rect">
            <a:avLst/>
          </a:prstGeom>
        </p:spPr>
        <p:txBody>
          <a:bodyPr>
            <a:normAutofit fontScale="92500" lnSpcReduction="20000"/>
          </a:bodyPr>
          <a:lst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a:lstStyle>
          <a:p>
            <a:r>
              <a:rPr lang="en-IN" dirty="0" smtClean="0"/>
              <a:t>In the journey of initial project development, we've explored the critical steps and strategies that form the bedrock of project success. We've witnessed the importance of laying a strong foundation to ensure a smooth and fruitful project journey.</a:t>
            </a:r>
          </a:p>
          <a:p>
            <a:r>
              <a:rPr lang="en-IN" dirty="0" smtClean="0"/>
              <a:t>From project definition and stakeholder analysis to technology stack selection and user-</a:t>
            </a:r>
            <a:r>
              <a:rPr lang="en-IN" dirty="0" err="1" smtClean="0"/>
              <a:t>centered</a:t>
            </a:r>
            <a:r>
              <a:rPr lang="en-IN" dirty="0" smtClean="0"/>
              <a:t> design, every phase contributes to the project's success. The iterative nature of these processes allows for adaptability and alignment with evolving project needs.</a:t>
            </a:r>
          </a:p>
          <a:p>
            <a:r>
              <a:rPr lang="en-IN" dirty="0" smtClean="0"/>
              <a:t>We've highlighted the significance of user-centric design, rigorous testing, and feedback collection in enhancing project quality, reliability, and user satisfaction. Continuous improvement is not just a concept but a practice deeply embedded in the project's DNA.</a:t>
            </a:r>
          </a:p>
          <a:p>
            <a:endParaRPr lang="en-IN" dirty="0"/>
          </a:p>
        </p:txBody>
      </p:sp>
    </p:spTree>
    <p:extLst>
      <p:ext uri="{BB962C8B-B14F-4D97-AF65-F5344CB8AC3E}">
        <p14:creationId xmlns:p14="http://schemas.microsoft.com/office/powerpoint/2010/main" val="5643256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8"/>
          <p:cNvSpPr txBox="1">
            <a:spLocks/>
          </p:cNvSpPr>
          <p:nvPr/>
        </p:nvSpPr>
        <p:spPr>
          <a:xfrm>
            <a:off x="872067" y="1600200"/>
            <a:ext cx="7408333" cy="4495800"/>
          </a:xfrm>
          <a:prstGeom prst="rect">
            <a:avLst/>
          </a:prstGeom>
        </p:spPr>
        <p:txBody>
          <a:bodyPr>
            <a:normAutofit/>
          </a:bodyPr>
          <a:lst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a:lstStyle>
          <a:p>
            <a:r>
              <a:rPr lang="en-IN" dirty="0"/>
              <a:t>As we conclude, remember that the journey doesn't end here. With the insights gained from project reviews and feedback, we set our milestones and continue to track progress, adapting as needed.</a:t>
            </a:r>
          </a:p>
          <a:p>
            <a:r>
              <a:rPr lang="en-IN" dirty="0"/>
              <a:t>The foundations of initial development are the cornerstone for a successful project. Embrace these principles, prioritize user needs, and keep the spirit of adaptability alive. Your project's success lies in the journey you undertake from here.</a:t>
            </a:r>
          </a:p>
        </p:txBody>
      </p:sp>
    </p:spTree>
    <p:extLst>
      <p:ext uri="{BB962C8B-B14F-4D97-AF65-F5344CB8AC3E}">
        <p14:creationId xmlns:p14="http://schemas.microsoft.com/office/powerpoint/2010/main" val="9274974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4876800"/>
            <a:ext cx="7772400" cy="1600200"/>
          </a:xfrm>
        </p:spPr>
        <p:txBody>
          <a:bodyPr>
            <a:normAutofit/>
          </a:bodyPr>
          <a:lstStyle/>
          <a:p>
            <a:r>
              <a:rPr lang="en-US" sz="6600" b="1" dirty="0" smtClean="0">
                <a:solidFill>
                  <a:schemeClr val="bg2">
                    <a:lumMod val="75000"/>
                  </a:schemeClr>
                </a:solidFill>
                <a:latin typeface="Castellar" pitchFamily="18" charset="0"/>
              </a:rPr>
              <a:t>THANK YOU</a:t>
            </a:r>
            <a:endParaRPr lang="en-IN" sz="6600" b="1" dirty="0">
              <a:solidFill>
                <a:schemeClr val="bg2">
                  <a:lumMod val="75000"/>
                </a:schemeClr>
              </a:solidFill>
              <a:latin typeface="Castellar" pitchFamily="18" charset="0"/>
            </a:endParaRPr>
          </a:p>
        </p:txBody>
      </p:sp>
      <p:sp>
        <p:nvSpPr>
          <p:cNvPr id="3" name="Text Placeholder 2"/>
          <p:cNvSpPr>
            <a:spLocks noGrp="1"/>
          </p:cNvSpPr>
          <p:nvPr>
            <p:ph type="body" idx="1"/>
          </p:nvPr>
        </p:nvSpPr>
        <p:spPr>
          <a:xfrm>
            <a:off x="838200" y="1143000"/>
            <a:ext cx="7467600" cy="2743200"/>
          </a:xfrm>
        </p:spPr>
        <p:txBody>
          <a:bodyPr>
            <a:normAutofit/>
          </a:bodyPr>
          <a:lstStyle/>
          <a:p>
            <a:r>
              <a:rPr lang="en-IN" sz="2400" dirty="0"/>
              <a:t>This presentation idea provides a comprehensive overview of the initial development steps in a project, from defining the project's purpose to addressing challenges and solutions. Each slide can be further detailed to provide a deep understanding of the early stages of project development.</a:t>
            </a:r>
            <a:endParaRPr lang="en-IN" sz="2400" dirty="0"/>
          </a:p>
        </p:txBody>
      </p:sp>
    </p:spTree>
    <p:extLst>
      <p:ext uri="{BB962C8B-B14F-4D97-AF65-F5344CB8AC3E}">
        <p14:creationId xmlns:p14="http://schemas.microsoft.com/office/powerpoint/2010/main" val="46190231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aveform">
  <a:themeElements>
    <a:clrScheme name="Waveform">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Waveform">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aveform">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Waveform</Template>
  <TotalTime>113</TotalTime>
  <Words>1941</Words>
  <Application>Microsoft Office PowerPoint</Application>
  <PresentationFormat>On-screen Show (4:3)</PresentationFormat>
  <Paragraphs>112</Paragraphs>
  <Slides>34</Slides>
  <Notes>0</Notes>
  <HiddenSlides>0</HiddenSlides>
  <MMClips>0</MMClips>
  <ScaleCrop>false</ScaleCrop>
  <HeadingPairs>
    <vt:vector size="4" baseType="variant">
      <vt:variant>
        <vt:lpstr>Theme</vt:lpstr>
      </vt:variant>
      <vt:variant>
        <vt:i4>1</vt:i4>
      </vt:variant>
      <vt:variant>
        <vt:lpstr>Slide Titles</vt:lpstr>
      </vt:variant>
      <vt:variant>
        <vt:i4>34</vt:i4>
      </vt:variant>
    </vt:vector>
  </HeadingPairs>
  <TitlesOfParts>
    <vt:vector size="35" baseType="lpstr">
      <vt:lpstr>Waveform</vt:lpstr>
      <vt:lpstr>Predicting House Prices Using Machine Learning</vt:lpstr>
      <vt:lpstr>"Setting the Stage for Success: The Initial Development Phase"</vt:lpstr>
      <vt:lpstr>INTRODUCTION</vt:lpstr>
      <vt:lpstr>Project Definition: Laying the Cornerstone</vt:lpstr>
      <vt:lpstr>Stakeholder Analysis</vt:lpstr>
      <vt:lpstr>Stakeholder Analysis: Understanding Key Players</vt:lpstr>
      <vt:lpstr>Key Objectives:</vt:lpstr>
      <vt:lpstr>Scope Definition</vt:lpstr>
      <vt:lpstr>"Scope Definition: Setting Boundaries for Success"</vt:lpstr>
      <vt:lpstr>Scope Components</vt:lpstr>
      <vt:lpstr>Project Planning</vt:lpstr>
      <vt:lpstr>Project Planning: Charting the Course</vt:lpstr>
      <vt:lpstr>Key Elements:</vt:lpstr>
      <vt:lpstr>Resource Allocation</vt:lpstr>
      <vt:lpstr>Resource Allocation: Putting the Right Pieces in Place</vt:lpstr>
      <vt:lpstr>PowerPoint Presentation</vt:lpstr>
      <vt:lpstr>Technology Stack Selection</vt:lpstr>
      <vt:lpstr>Technology Stack Selection: Building with the Right Tools</vt:lpstr>
      <vt:lpstr>Key Considerations:</vt:lpstr>
      <vt:lpstr>Team Formation</vt:lpstr>
      <vt:lpstr>Team Formation: Assembling the Dream Team</vt:lpstr>
      <vt:lpstr>PowerPoint Presentation</vt:lpstr>
      <vt:lpstr>Prototyping and MVP</vt:lpstr>
      <vt:lpstr>Iterative Development for a Successful Product</vt:lpstr>
      <vt:lpstr>Key Benefits:</vt:lpstr>
      <vt:lpstr>Data Gathering and Analysis</vt:lpstr>
      <vt:lpstr>Data Gathering and Analysis: Insights for Informed Decisions</vt:lpstr>
      <vt:lpstr>Key Aspects:  </vt:lpstr>
      <vt:lpstr>Testing and Quality Assurance</vt:lpstr>
      <vt:lpstr>Testing and Quality Assurance: Ensuring a Reliable Product </vt:lpstr>
      <vt:lpstr>CONCLUSION</vt:lpstr>
      <vt:lpstr>PowerPoint Presentation</vt:lpstr>
      <vt:lpstr>PowerPoint Presentation</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House Prices Using Machine Learning</dc:title>
  <dc:creator>2021PITEC187</dc:creator>
  <cp:lastModifiedBy>2021PITEC187</cp:lastModifiedBy>
  <cp:revision>9</cp:revision>
  <dcterms:created xsi:type="dcterms:W3CDTF">2006-08-16T00:00:00Z</dcterms:created>
  <dcterms:modified xsi:type="dcterms:W3CDTF">2023-10-17T06:10:19Z</dcterms:modified>
</cp:coreProperties>
</file>